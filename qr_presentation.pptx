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75E"/>
        </a:solidFill>
        <a:effectLst/>
      </p:bgPr>
    </p:bg>
    <p:spTree>
      <p:nvGrpSpPr>
        <p:cNvPr id="1" name=""/>
        <p:cNvGrpSpPr/>
        <p:nvPr/>
      </p:nvGrpSpPr>
      <p:grpSpPr/>
      <p:sp>
        <p:nvSpPr>
          <p:cNvPr id="2" name="Rectangle 1"/>
          <p:cNvSpPr/>
          <p:nvPr/>
        </p:nvSpPr>
        <p:spPr>
          <a:xfrm>
            <a:off x="0" y="2011680"/>
            <a:ext cx="12188952" cy="2834640"/>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48840"/>
            <a:ext cx="11064240" cy="1828800"/>
          </a:xfrm>
          <a:prstGeom prst="rect">
            <a:avLst/>
          </a:prstGeom>
          <a:noFill/>
        </p:spPr>
        <p:txBody>
          <a:bodyPr wrap="square">
            <a:spAutoFit/>
          </a:bodyPr>
          <a:lstStyle/>
          <a:p>
            <a:pPr algn="ctr"/>
            <a:r>
              <a:rPr sz="4000" b="1" i="0">
                <a:solidFill>
                  <a:srgbClr val="FFFFFF"/>
                </a:solidFill>
              </a:rPr>
              <a:t>Qualitative Reasoning:
History and the Rise of LLMs</a:t>
            </a:r>
          </a:p>
        </p:txBody>
      </p:sp>
      <p:sp>
        <p:nvSpPr>
          <p:cNvPr id="4" name="TextBox 3"/>
          <p:cNvSpPr txBox="1"/>
          <p:nvPr/>
        </p:nvSpPr>
        <p:spPr>
          <a:xfrm>
            <a:off x="548640" y="4023360"/>
            <a:ext cx="11064240" cy="731520"/>
          </a:xfrm>
          <a:prstGeom prst="rect">
            <a:avLst/>
          </a:prstGeom>
          <a:noFill/>
        </p:spPr>
        <p:txBody>
          <a:bodyPr wrap="square">
            <a:spAutoFit/>
          </a:bodyPr>
          <a:lstStyle/>
          <a:p>
            <a:pPr algn="ctr"/>
            <a:r>
              <a:rPr sz="2200" b="0" i="0">
                <a:solidFill>
                  <a:srgbClr val="D6E4F7"/>
                </a:solidFill>
              </a:rPr>
              <a:t>From Sign Algebra to GPT-4 — 60 Years of Commonsense Physics</a:t>
            </a:r>
          </a:p>
        </p:txBody>
      </p:sp>
      <p:sp>
        <p:nvSpPr>
          <p:cNvPr id="5" name="TextBox 4"/>
          <p:cNvSpPr txBox="1"/>
          <p:nvPr/>
        </p:nvSpPr>
        <p:spPr>
          <a:xfrm>
            <a:off x="548640" y="6035040"/>
            <a:ext cx="11064240" cy="457200"/>
          </a:xfrm>
          <a:prstGeom prst="rect">
            <a:avLst/>
          </a:prstGeom>
          <a:noFill/>
        </p:spPr>
        <p:txBody>
          <a:bodyPr wrap="square">
            <a:spAutoFit/>
          </a:bodyPr>
          <a:lstStyle/>
          <a:p>
            <a:pPr algn="ctr"/>
            <a:r>
              <a:rPr sz="1400" b="0" i="0">
                <a:solidFill>
                  <a:srgbClr val="D6E4F7"/>
                </a:solidFill>
              </a:rPr>
              <a:t>Qualitative Reasoning Workshop (QR)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Agenda</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Part 1 — What is Qualitative Reasoning?</a:t>
            </a:r>
          </a:p>
          <a:p>
            <a:pPr lvl="1">
              <a:spcBef>
                <a:spcPts val="200"/>
              </a:spcBef>
            </a:pPr>
            <a:r>
              <a:rPr sz="1500" b="0">
                <a:solidFill>
                  <a:srgbClr val="000000"/>
                </a:solidFill>
              </a:rPr>
              <a:t>    –  Motivation: reasoning without equations</a:t>
            </a:r>
          </a:p>
          <a:p>
            <a:pPr lvl="1">
              <a:spcBef>
                <a:spcPts val="200"/>
              </a:spcBef>
            </a:pPr>
            <a:r>
              <a:rPr sz="1500" b="0">
                <a:solidFill>
                  <a:srgbClr val="000000"/>
                </a:solidFill>
              </a:rPr>
              <a:t>    –  Core representations and formalisms</a:t>
            </a:r>
          </a:p>
          <a:p>
            <a:pPr lvl="1">
              <a:spcBef>
                <a:spcPts val="200"/>
              </a:spcBef>
            </a:pPr>
            <a:r>
              <a:rPr sz="1500" b="0">
                <a:solidFill>
                  <a:srgbClr val="000000"/>
                </a:solidFill>
              </a:rPr>
              <a:t>    –  Key algorithms: QSIM, QP Theory, compositional modeling</a:t>
            </a:r>
          </a:p>
          <a:p>
            <a:pPr lvl="1">
              <a:spcBef>
                <a:spcPts val="200"/>
              </a:spcBef>
            </a:pPr>
            <a:r>
              <a:rPr sz="1500" b="0">
                <a:solidFill>
                  <a:srgbClr val="000000"/>
                </a:solidFill>
              </a:rPr>
              <a:t>    –  Real-world applications</a:t>
            </a:r>
          </a:p>
          <a:p>
            <a:pPr>
              <a:spcBef>
                <a:spcPts val="400"/>
              </a:spcBef>
            </a:pPr>
            <a:r>
              <a:rPr sz="1700" b="1">
                <a:solidFill>
                  <a:srgbClr val="1A375E"/>
                </a:solidFill>
              </a:rPr>
              <a:t>•  Part 2 — Pre-AI Origins (1960s–1970s)</a:t>
            </a:r>
          </a:p>
          <a:p>
            <a:pPr lvl="1">
              <a:spcBef>
                <a:spcPts val="200"/>
              </a:spcBef>
            </a:pPr>
            <a:r>
              <a:rPr sz="1500" b="0">
                <a:solidFill>
                  <a:srgbClr val="000000"/>
                </a:solidFill>
              </a:rPr>
              <a:t>    –  Sign algebra in economics; control theory</a:t>
            </a:r>
          </a:p>
          <a:p>
            <a:pPr lvl="1">
              <a:spcBef>
                <a:spcPts val="200"/>
              </a:spcBef>
            </a:pPr>
            <a:r>
              <a:rPr sz="1500" b="0">
                <a:solidFill>
                  <a:srgbClr val="000000"/>
                </a:solidFill>
              </a:rPr>
              <a:t>    –  Hayes' Naïve Physics Manifesto</a:t>
            </a:r>
          </a:p>
          <a:p>
            <a:pPr>
              <a:spcBef>
                <a:spcPts val="400"/>
              </a:spcBef>
            </a:pPr>
            <a:r>
              <a:rPr sz="1700" b="1">
                <a:solidFill>
                  <a:srgbClr val="1A375E"/>
                </a:solidFill>
              </a:rPr>
              <a:t>•  Part 3 — The AI Era (1977–present)</a:t>
            </a:r>
          </a:p>
          <a:p>
            <a:pPr lvl="1">
              <a:spcBef>
                <a:spcPts val="200"/>
              </a:spcBef>
            </a:pPr>
            <a:r>
              <a:rPr sz="1500" b="0">
                <a:solidFill>
                  <a:srgbClr val="000000"/>
                </a:solidFill>
              </a:rPr>
              <a:t>    –  Foundational 1984 papers; the QR workshop series</a:t>
            </a:r>
          </a:p>
          <a:p>
            <a:pPr lvl="1">
              <a:spcBef>
                <a:spcPts val="200"/>
              </a:spcBef>
            </a:pPr>
            <a:r>
              <a:rPr sz="1500" b="0">
                <a:solidFill>
                  <a:srgbClr val="000000"/>
                </a:solidFill>
              </a:rPr>
              <a:t>    –  Spatial reasoning, education tools, QR software</a:t>
            </a:r>
          </a:p>
          <a:p>
            <a:pPr>
              <a:spcBef>
                <a:spcPts val="400"/>
              </a:spcBef>
            </a:pPr>
            <a:r>
              <a:rPr sz="1700" b="1">
                <a:solidFill>
                  <a:srgbClr val="1A375E"/>
                </a:solidFill>
              </a:rPr>
              <a:t>•  Part 4 — LLMs Meet QR (2023–2025)</a:t>
            </a:r>
          </a:p>
          <a:p>
            <a:pPr lvl="1">
              <a:spcBef>
                <a:spcPts val="200"/>
              </a:spcBef>
            </a:pPr>
            <a:r>
              <a:rPr sz="1500" b="0">
                <a:solidFill>
                  <a:srgbClr val="000000"/>
                </a:solidFill>
              </a:rPr>
              <a:t>    –  Benchmarking LLMs on spatial tasks</a:t>
            </a:r>
          </a:p>
          <a:p>
            <a:pPr lvl="1">
              <a:spcBef>
                <a:spcPts val="200"/>
              </a:spcBef>
            </a:pPr>
            <a:r>
              <a:rPr sz="1500" b="0">
                <a:solidFill>
                  <a:srgbClr val="000000"/>
                </a:solidFill>
              </a:rPr>
              <a:t>    –  Hybrid neuro-symbolic architectures</a:t>
            </a:r>
          </a:p>
          <a:p>
            <a:pPr lvl="1">
              <a:spcBef>
                <a:spcPts val="200"/>
              </a:spcBef>
            </a:pPr>
            <a:r>
              <a:rPr sz="1500" b="0">
                <a:solidFill>
                  <a:srgbClr val="000000"/>
                </a:solidFill>
              </a:rPr>
              <a:t>    –  The road ahead</a:t>
            </a:r>
          </a:p>
          <a:p>
            <a:pPr>
              <a:spcBef>
                <a:spcPts val="400"/>
              </a:spcBef>
            </a:pPr>
            <a:r>
              <a:rPr sz="1700" b="1">
                <a:solidFill>
                  <a:srgbClr val="1A375E"/>
                </a:solidFill>
              </a:rPr>
              <a:t>•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5E9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280160"/>
          </a:xfrm>
          <a:prstGeom prst="rect">
            <a:avLst/>
          </a:prstGeom>
          <a:noFill/>
        </p:spPr>
        <p:txBody>
          <a:bodyPr wrap="square">
            <a:spAutoFit/>
          </a:bodyPr>
          <a:lstStyle/>
          <a:p>
            <a:pPr algn="l"/>
            <a:r>
              <a:rPr sz="3600" b="1" i="0">
                <a:solidFill>
                  <a:srgbClr val="FFFFFF"/>
                </a:solidFill>
              </a:rPr>
              <a:t>Part 1 — What Is Qualitative Reasoning?</a:t>
            </a:r>
          </a:p>
        </p:txBody>
      </p:sp>
      <p:sp>
        <p:nvSpPr>
          <p:cNvPr id="4" name="TextBox 3"/>
          <p:cNvSpPr txBox="1"/>
          <p:nvPr/>
        </p:nvSpPr>
        <p:spPr>
          <a:xfrm>
            <a:off x="731520" y="3749039"/>
            <a:ext cx="10698480" cy="914400"/>
          </a:xfrm>
          <a:prstGeom prst="rect">
            <a:avLst/>
          </a:prstGeom>
          <a:noFill/>
        </p:spPr>
        <p:txBody>
          <a:bodyPr wrap="square">
            <a:spAutoFit/>
          </a:bodyPr>
          <a:lstStyle/>
          <a:p>
            <a:pPr algn="l"/>
            <a:r>
              <a:rPr sz="2000" b="0" i="0">
                <a:solidFill>
                  <a:srgbClr val="D6E4F7"/>
                </a:solidFill>
              </a:rPr>
              <a:t>Reasoning about continuous phenomena without full equations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Central Motivation</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Two empirical observations drive the field:</a:t>
            </a:r>
          </a:p>
          <a:p>
            <a:pPr lvl="1">
              <a:spcBef>
                <a:spcPts val="200"/>
              </a:spcBef>
            </a:pPr>
            <a:r>
              <a:rPr sz="1500" b="0">
                <a:solidFill>
                  <a:srgbClr val="000000"/>
                </a:solidFill>
              </a:rPr>
              <a:t>    –  People routinely draw useful conclusions without numerical equations</a:t>
            </a:r>
          </a:p>
          <a:p>
            <a:pPr lvl="1">
              <a:spcBef>
                <a:spcPts val="200"/>
              </a:spcBef>
            </a:pPr>
            <a:r>
              <a:rPr sz="1500" b="0">
                <a:solidFill>
                  <a:srgbClr val="000000"/>
                </a:solidFill>
              </a:rPr>
              <a:t>    –  Scientists and engineers use qualitative reasoning when setting up problems and interpreting results</a:t>
            </a:r>
          </a:p>
          <a:p>
            <a:pPr>
              <a:spcBef>
                <a:spcPts val="400"/>
              </a:spcBef>
            </a:pPr>
            <a:r>
              <a:rPr sz="1700" b="1">
                <a:solidFill>
                  <a:srgbClr val="1A375E"/>
                </a:solidFill>
              </a:rPr>
              <a:t>•  Example: without any numbers, you can conclude…</a:t>
            </a:r>
          </a:p>
          <a:p>
            <a:pPr lvl="1">
              <a:spcBef>
                <a:spcPts val="200"/>
              </a:spcBef>
            </a:pPr>
            <a:r>
              <a:rPr sz="1500" b="0">
                <a:solidFill>
                  <a:srgbClr val="000000"/>
                </a:solidFill>
              </a:rPr>
              <a:t>    –  Heating a gas in a fixed container raises its pressure</a:t>
            </a:r>
          </a:p>
          <a:p>
            <a:pPr lvl="1">
              <a:spcBef>
                <a:spcPts val="200"/>
              </a:spcBef>
            </a:pPr>
            <a:r>
              <a:rPr sz="1500" b="0">
                <a:solidFill>
                  <a:srgbClr val="000000"/>
                </a:solidFill>
              </a:rPr>
              <a:t>    –  Releasing a ball near a slope makes it roll downward</a:t>
            </a:r>
          </a:p>
          <a:p>
            <a:pPr lvl="1">
              <a:spcBef>
                <a:spcPts val="200"/>
              </a:spcBef>
            </a:pPr>
            <a:r>
              <a:rPr sz="1500" b="0">
                <a:solidFill>
                  <a:srgbClr val="000000"/>
                </a:solidFill>
              </a:rPr>
              <a:t>    –  Removing a load from a spring shortens it</a:t>
            </a:r>
          </a:p>
          <a:p>
            <a:pPr>
              <a:spcBef>
                <a:spcPts val="400"/>
              </a:spcBef>
            </a:pPr>
            <a:r>
              <a:rPr sz="1700" b="1">
                <a:solidFill>
                  <a:srgbClr val="1A375E"/>
                </a:solidFill>
              </a:rPr>
              <a:t>•  Goal: give computers the same commonsense reasoning ability</a:t>
            </a:r>
          </a:p>
          <a:p>
            <a:pPr lvl="1">
              <a:spcBef>
                <a:spcPts val="200"/>
              </a:spcBef>
            </a:pPr>
            <a:r>
              <a:rPr sz="1500" b="0">
                <a:solidFill>
                  <a:srgbClr val="000000"/>
                </a:solidFill>
              </a:rPr>
              <a:t>    –  Formal, symbolic — not statistical or learned from data</a:t>
            </a:r>
          </a:p>
          <a:p>
            <a:pPr lvl="1">
              <a:spcBef>
                <a:spcPts val="200"/>
              </a:spcBef>
            </a:pPr>
            <a:r>
              <a:rPr sz="1500" b="0">
                <a:solidFill>
                  <a:srgbClr val="000000"/>
                </a:solidFill>
              </a:rPr>
              <a:t>    –  Produce causal, explainable predictions</a:t>
            </a:r>
          </a:p>
          <a:p>
            <a:pPr lvl="1">
              <a:spcBef>
                <a:spcPts val="200"/>
              </a:spcBef>
            </a:pPr>
            <a:r>
              <a:rPr sz="1500" b="0">
                <a:solidFill>
                  <a:srgbClr val="000000"/>
                </a:solidFill>
              </a:rPr>
              <a:t>    –  Work with incomplete information (no exact values required)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What QR Is and Is Not</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QR IS:</a:t>
            </a:r>
          </a:p>
          <a:p>
            <a:pPr lvl="1">
              <a:spcBef>
                <a:spcPts val="200"/>
              </a:spcBef>
            </a:pPr>
            <a:r>
              <a:rPr sz="1500" b="0">
                <a:solidFill>
                  <a:srgbClr val="000000"/>
                </a:solidFill>
              </a:rPr>
              <a:t>    –  Symbolic AI: uses formal representations of qualitative states</a:t>
            </a:r>
          </a:p>
          <a:p>
            <a:pPr lvl="1">
              <a:spcBef>
                <a:spcPts val="200"/>
              </a:spcBef>
            </a:pPr>
            <a:r>
              <a:rPr sz="1500" b="0">
                <a:solidFill>
                  <a:srgbClr val="000000"/>
                </a:solidFill>
              </a:rPr>
              <a:t>    –  Causal: models mechanisms, not just correlations</a:t>
            </a:r>
          </a:p>
          <a:p>
            <a:pPr lvl="1">
              <a:spcBef>
                <a:spcPts val="200"/>
              </a:spcBef>
            </a:pPr>
            <a:r>
              <a:rPr sz="1500" b="0">
                <a:solidFill>
                  <a:srgbClr val="000000"/>
                </a:solidFill>
              </a:rPr>
              <a:t>    –  Sound under incomplete information: works when only + / 0 / − is known</a:t>
            </a:r>
          </a:p>
          <a:p>
            <a:pPr lvl="1">
              <a:spcBef>
                <a:spcPts val="200"/>
              </a:spcBef>
            </a:pPr>
            <a:r>
              <a:rPr sz="1500" b="0">
                <a:solidFill>
                  <a:srgbClr val="000000"/>
                </a:solidFill>
              </a:rPr>
              <a:t>    –  Explainable: every conclusion traces to model structure</a:t>
            </a:r>
          </a:p>
          <a:p>
            <a:pPr>
              <a:spcBef>
                <a:spcPts val="400"/>
              </a:spcBef>
            </a:pPr>
            <a:r>
              <a:rPr sz="1700" b="1">
                <a:solidFill>
                  <a:srgbClr val="1A375E"/>
                </a:solidFill>
              </a:rPr>
              <a:t>•  QR IS NOT:</a:t>
            </a:r>
          </a:p>
          <a:p>
            <a:pPr lvl="1">
              <a:spcBef>
                <a:spcPts val="200"/>
              </a:spcBef>
            </a:pPr>
            <a:r>
              <a:rPr sz="1500" b="0">
                <a:solidFill>
                  <a:srgbClr val="000000"/>
                </a:solidFill>
              </a:rPr>
              <a:t>    –  Fuzzy logic (no membership functions)</a:t>
            </a:r>
          </a:p>
          <a:p>
            <a:pPr lvl="1">
              <a:spcBef>
                <a:spcPts val="200"/>
              </a:spcBef>
            </a:pPr>
            <a:r>
              <a:rPr sz="1500" b="0">
                <a:solidFill>
                  <a:srgbClr val="000000"/>
                </a:solidFill>
              </a:rPr>
              <a:t>    –  Numerical simulation (no ODE solvers)</a:t>
            </a:r>
          </a:p>
          <a:p>
            <a:pPr lvl="1">
              <a:spcBef>
                <a:spcPts val="200"/>
              </a:spcBef>
            </a:pPr>
            <a:r>
              <a:rPr sz="1500" b="0">
                <a:solidFill>
                  <a:srgbClr val="000000"/>
                </a:solidFill>
              </a:rPr>
              <a:t>    –  Machine learning (no training data required)</a:t>
            </a:r>
          </a:p>
          <a:p>
            <a:pPr lvl="1">
              <a:spcBef>
                <a:spcPts val="200"/>
              </a:spcBef>
            </a:pPr>
            <a:r>
              <a:rPr sz="1500" b="0">
                <a:solidFill>
                  <a:srgbClr val="000000"/>
                </a:solidFill>
              </a:rPr>
              <a:t>    –  Approximate or heuristic — it is formally rigorous</a:t>
            </a:r>
          </a:p>
          <a:p>
            <a:pPr>
              <a:spcBef>
                <a:spcPts val="400"/>
              </a:spcBef>
            </a:pPr>
            <a:r>
              <a:rPr sz="1700" b="1">
                <a:solidFill>
                  <a:srgbClr val="1A375E"/>
                </a:solidFill>
              </a:rPr>
              <a:t>•  Closest relatives in CS: model-based reasoning, constraint programming, knowledge representation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QR Representations: A Hierarchy of Precision</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Sign Algebra (roughest)  →  Quantity Spaces  →  Numerical Values (finest)</a:t>
            </a:r>
          </a:p>
          <a:p>
            <a:pPr>
              <a:spcBef>
                <a:spcPts val="400"/>
              </a:spcBef>
            </a:pPr>
            <a:r>
              <a:rPr sz="1700" b="1">
                <a:solidFill>
                  <a:srgbClr val="1A375E"/>
                </a:solidFill>
              </a:rPr>
              <a:t>•  Sign algebra: every quantity is + (positive), 0 (zero), or − (negative)</a:t>
            </a:r>
          </a:p>
          <a:p>
            <a:pPr lvl="1">
              <a:spcBef>
                <a:spcPts val="200"/>
              </a:spcBef>
            </a:pPr>
            <a:r>
              <a:rPr sz="1500" b="0">
                <a:solidFill>
                  <a:srgbClr val="000000"/>
                </a:solidFill>
              </a:rPr>
              <a:t>    –  Add: (+) + (+) = (+),   (+) + (−) = ?,   (+) + (0) = (+)</a:t>
            </a:r>
          </a:p>
          <a:p>
            <a:pPr lvl="1">
              <a:spcBef>
                <a:spcPts val="200"/>
              </a:spcBef>
            </a:pPr>
            <a:r>
              <a:rPr sz="1500" b="0">
                <a:solidFill>
                  <a:srgbClr val="000000"/>
                </a:solidFill>
              </a:rPr>
              <a:t>    –  Multiply: (+) × (−) = (−),   (−) × (−) = (+)</a:t>
            </a:r>
          </a:p>
          <a:p>
            <a:pPr lvl="1">
              <a:spcBef>
                <a:spcPts val="200"/>
              </a:spcBef>
            </a:pPr>
            <a:r>
              <a:rPr sz="1500" b="0">
                <a:solidFill>
                  <a:srgbClr val="000000"/>
                </a:solidFill>
              </a:rPr>
              <a:t>    –  Used for comparative statics: if X increases, what happens to Y?</a:t>
            </a:r>
          </a:p>
          <a:p>
            <a:pPr>
              <a:spcBef>
                <a:spcPts val="400"/>
              </a:spcBef>
            </a:pPr>
            <a:r>
              <a:rPr sz="1700" b="1">
                <a:solidFill>
                  <a:srgbClr val="1A375E"/>
                </a:solidFill>
              </a:rPr>
              <a:t>•  Quantity spaces: ordered sets of landmark values</a:t>
            </a:r>
          </a:p>
          <a:p>
            <a:pPr lvl="1">
              <a:spcBef>
                <a:spcPts val="200"/>
              </a:spcBef>
            </a:pPr>
            <a:r>
              <a:rPr sz="1500" b="0">
                <a:solidFill>
                  <a:srgbClr val="000000"/>
                </a:solidFill>
              </a:rPr>
              <a:t>    –  e.g., {0, boiling, above_boiling} for water temperature</a:t>
            </a:r>
          </a:p>
          <a:p>
            <a:pPr lvl="1">
              <a:spcBef>
                <a:spcPts val="200"/>
              </a:spcBef>
            </a:pPr>
            <a:r>
              <a:rPr sz="1500" b="0">
                <a:solidFill>
                  <a:srgbClr val="000000"/>
                </a:solidFill>
              </a:rPr>
              <a:t>    –  Captures threshold effects and qualitative transitions</a:t>
            </a:r>
          </a:p>
          <a:p>
            <a:pPr lvl="1">
              <a:spcBef>
                <a:spcPts val="200"/>
              </a:spcBef>
            </a:pPr>
            <a:r>
              <a:rPr sz="1500" b="0">
                <a:solidFill>
                  <a:srgbClr val="000000"/>
                </a:solidFill>
              </a:rPr>
              <a:t>    –  Magnitudes and derivatives each take values in a quantity space</a:t>
            </a:r>
          </a:p>
          <a:p>
            <a:pPr>
              <a:spcBef>
                <a:spcPts val="400"/>
              </a:spcBef>
            </a:pPr>
            <a:r>
              <a:rPr sz="1700" b="1">
                <a:solidFill>
                  <a:srgbClr val="1A375E"/>
                </a:solidFill>
              </a:rPr>
              <a:t>•  Monotonic function constraints: Y = M+(X) means Y increases when X increases</a:t>
            </a:r>
          </a:p>
          <a:p>
            <a:pPr lvl="1">
              <a:spcBef>
                <a:spcPts val="200"/>
              </a:spcBef>
            </a:pPr>
            <a:r>
              <a:rPr sz="1500" b="0">
                <a:solidFill>
                  <a:srgbClr val="000000"/>
                </a:solidFill>
              </a:rPr>
              <a:t>    –  No equation needed — just the direction of influence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Core Formalisms in QR</a:t>
            </a:r>
          </a:p>
        </p:txBody>
      </p:sp>
      <p:sp>
        <p:nvSpPr>
          <p:cNvPr id="4" name="Rectangle 3"/>
          <p:cNvSpPr/>
          <p:nvPr/>
        </p:nvSpPr>
        <p:spPr>
          <a:xfrm>
            <a:off x="274320" y="1188720"/>
            <a:ext cx="5577840" cy="384048"/>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25296"/>
            <a:ext cx="5394960" cy="347472"/>
          </a:xfrm>
          <a:prstGeom prst="rect">
            <a:avLst/>
          </a:prstGeom>
          <a:noFill/>
        </p:spPr>
        <p:txBody>
          <a:bodyPr wrap="square">
            <a:spAutoFit/>
          </a:bodyPr>
          <a:lstStyle/>
          <a:p>
            <a:pPr algn="l"/>
            <a:r>
              <a:rPr sz="1600" b="1" i="0">
                <a:solidFill>
                  <a:srgbClr val="FFFFFF"/>
                </a:solidFill>
              </a:rPr>
              <a:t>Confluences (de Kleer &amp; Brown, 1984)</a:t>
            </a:r>
          </a:p>
        </p:txBody>
      </p:sp>
      <p:sp>
        <p:nvSpPr>
          <p:cNvPr id="6" name="TextBox 5"/>
          <p:cNvSpPr txBox="1"/>
          <p:nvPr/>
        </p:nvSpPr>
        <p:spPr>
          <a:xfrm>
            <a:off x="365760" y="1664208"/>
            <a:ext cx="5394960" cy="4828032"/>
          </a:xfrm>
          <a:prstGeom prst="rect">
            <a:avLst/>
          </a:prstGeom>
          <a:noFill/>
        </p:spPr>
        <p:txBody>
          <a:bodyPr wrap="square">
            <a:spAutoFit/>
          </a:bodyPr>
          <a:lstStyle/>
          <a:p>
            <a:pPr>
              <a:spcBef>
                <a:spcPts val="400"/>
              </a:spcBef>
            </a:pPr>
            <a:r>
              <a:rPr sz="1500">
                <a:solidFill>
                  <a:srgbClr val="000000"/>
                </a:solidFill>
              </a:rPr>
              <a:t>•  Differential equations over sign algebra</a:t>
            </a:r>
          </a:p>
          <a:p>
            <a:pPr>
              <a:spcBef>
                <a:spcPts val="400"/>
              </a:spcBef>
            </a:pPr>
            <a:r>
              <a:rPr sz="1500">
                <a:solidFill>
                  <a:srgbClr val="000000"/>
                </a:solidFill>
              </a:rPr>
              <a:t>•  Written as: δP + δV = 0 (Boyle's law, qualitatively)</a:t>
            </a:r>
          </a:p>
          <a:p>
            <a:pPr>
              <a:spcBef>
                <a:spcPts val="400"/>
              </a:spcBef>
            </a:pPr>
            <a:r>
              <a:rPr sz="1500">
                <a:solidFill>
                  <a:srgbClr val="000000"/>
                </a:solidFill>
              </a:rPr>
              <a:t>•  δ means 'direction of change'</a:t>
            </a:r>
          </a:p>
          <a:p>
            <a:pPr>
              <a:spcBef>
                <a:spcPts val="400"/>
              </a:spcBef>
            </a:pPr>
            <a:r>
              <a:rPr sz="1500">
                <a:solidFill>
                  <a:srgbClr val="000000"/>
                </a:solidFill>
              </a:rPr>
              <a:t>•  Used for device modeling (circuits, pipes)</a:t>
            </a:r>
          </a:p>
          <a:p>
            <a:pPr>
              <a:spcBef>
                <a:spcPts val="400"/>
              </a:spcBef>
            </a:pPr>
            <a:r>
              <a:rPr sz="1500">
                <a:solidFill>
                  <a:srgbClr val="000000"/>
                </a:solidFill>
              </a:rPr>
              <a:t>•  Device ontology: components + connections</a:t>
            </a:r>
          </a:p>
          <a:p>
            <a:pPr>
              <a:spcBef>
                <a:spcPts val="400"/>
              </a:spcBef>
            </a:pPr>
            <a:r>
              <a:rPr sz="1500">
                <a:solidFill>
                  <a:srgbClr val="000000"/>
                </a:solidFill>
              </a:rPr>
              <a:t>•  Envisionment: all reachable qualitative states</a:t>
            </a:r>
          </a:p>
        </p:txBody>
      </p:sp>
      <p:sp>
        <p:nvSpPr>
          <p:cNvPr id="7" name="Rectangle 6"/>
          <p:cNvSpPr/>
          <p:nvPr/>
        </p:nvSpPr>
        <p:spPr>
          <a:xfrm>
            <a:off x="6263640" y="1188720"/>
            <a:ext cx="5577840" cy="384048"/>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25296"/>
            <a:ext cx="5394960" cy="347472"/>
          </a:xfrm>
          <a:prstGeom prst="rect">
            <a:avLst/>
          </a:prstGeom>
          <a:noFill/>
        </p:spPr>
        <p:txBody>
          <a:bodyPr wrap="square">
            <a:spAutoFit/>
          </a:bodyPr>
          <a:lstStyle/>
          <a:p>
            <a:pPr algn="l"/>
            <a:r>
              <a:rPr sz="1600" b="1" i="0">
                <a:solidFill>
                  <a:srgbClr val="FFFFFF"/>
                </a:solidFill>
              </a:rPr>
              <a:t>Qualitative Differential Equations (Kuipers, 1986)</a:t>
            </a:r>
          </a:p>
        </p:txBody>
      </p:sp>
      <p:sp>
        <p:nvSpPr>
          <p:cNvPr id="9" name="TextBox 8"/>
          <p:cNvSpPr txBox="1"/>
          <p:nvPr/>
        </p:nvSpPr>
        <p:spPr>
          <a:xfrm>
            <a:off x="6355080" y="1664208"/>
            <a:ext cx="5394960" cy="4828032"/>
          </a:xfrm>
          <a:prstGeom prst="rect">
            <a:avLst/>
          </a:prstGeom>
          <a:noFill/>
        </p:spPr>
        <p:txBody>
          <a:bodyPr wrap="square">
            <a:spAutoFit/>
          </a:bodyPr>
          <a:lstStyle/>
          <a:p>
            <a:pPr>
              <a:spcBef>
                <a:spcPts val="400"/>
              </a:spcBef>
            </a:pPr>
            <a:r>
              <a:rPr sz="1500">
                <a:solidFill>
                  <a:srgbClr val="000000"/>
                </a:solidFill>
              </a:rPr>
              <a:t>•  QDE: set of constraints over quantities and their derivatives</a:t>
            </a:r>
          </a:p>
          <a:p>
            <a:pPr>
              <a:spcBef>
                <a:spcPts val="400"/>
              </a:spcBef>
            </a:pPr>
            <a:r>
              <a:rPr sz="1500">
                <a:solidFill>
                  <a:srgbClr val="000000"/>
                </a:solidFill>
              </a:rPr>
              <a:t>•  QSIM operators: ADD, MULT, DERIV, M+, M−</a:t>
            </a:r>
          </a:p>
          <a:p>
            <a:pPr>
              <a:spcBef>
                <a:spcPts val="400"/>
              </a:spcBef>
            </a:pPr>
            <a:r>
              <a:rPr sz="1500">
                <a:solidFill>
                  <a:srgbClr val="000000"/>
                </a:solidFill>
              </a:rPr>
              <a:t>•  Simulation traces a tree of possible behaviors</a:t>
            </a:r>
          </a:p>
          <a:p>
            <a:pPr>
              <a:spcBef>
                <a:spcPts val="400"/>
              </a:spcBef>
            </a:pPr>
            <a:r>
              <a:rPr sz="1500">
                <a:solidFill>
                  <a:srgbClr val="000000"/>
                </a:solidFill>
              </a:rPr>
              <a:t>•  Handles ambiguity — multiple consistent futures</a:t>
            </a:r>
          </a:p>
          <a:p>
            <a:pPr>
              <a:spcBef>
                <a:spcPts val="400"/>
              </a:spcBef>
            </a:pPr>
            <a:r>
              <a:rPr sz="1500">
                <a:solidFill>
                  <a:srgbClr val="000000"/>
                </a:solidFill>
              </a:rPr>
              <a:t>•  QSIM algorithm: globally consistent state propagation</a:t>
            </a:r>
          </a:p>
          <a:p>
            <a:pPr>
              <a:spcBef>
                <a:spcPts val="400"/>
              </a:spcBef>
            </a:pPr>
            <a:r>
              <a:rPr sz="1500">
                <a:solidFill>
                  <a:srgbClr val="000000"/>
                </a:solidFill>
              </a:rPr>
              <a:t>•  Behavior prediction without any numerical values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Qualitative Process Theory (Forbus, 1984)</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Central insight: continuous change is caused by processes</a:t>
            </a:r>
          </a:p>
          <a:p>
            <a:pPr>
              <a:spcBef>
                <a:spcPts val="400"/>
              </a:spcBef>
            </a:pPr>
            <a:r>
              <a:rPr sz="1700" b="1">
                <a:solidFill>
                  <a:srgbClr val="1A375E"/>
                </a:solidFill>
              </a:rPr>
              <a:t>•  A process model fragment specifies:</a:t>
            </a:r>
          </a:p>
          <a:p>
            <a:pPr lvl="1">
              <a:spcBef>
                <a:spcPts val="200"/>
              </a:spcBef>
            </a:pPr>
            <a:r>
              <a:rPr sz="1500" b="0">
                <a:solidFill>
                  <a:srgbClr val="000000"/>
                </a:solidFill>
              </a:rPr>
              <a:t>    –  Individuals: objects participating in the process</a:t>
            </a:r>
          </a:p>
          <a:p>
            <a:pPr lvl="1">
              <a:spcBef>
                <a:spcPts val="200"/>
              </a:spcBef>
            </a:pPr>
            <a:r>
              <a:rPr sz="1500" b="0">
                <a:solidFill>
                  <a:srgbClr val="000000"/>
                </a:solidFill>
              </a:rPr>
              <a:t>    –  Preconditions: qualitative conditions for the process to exist</a:t>
            </a:r>
          </a:p>
          <a:p>
            <a:pPr lvl="1">
              <a:spcBef>
                <a:spcPts val="200"/>
              </a:spcBef>
            </a:pPr>
            <a:r>
              <a:rPr sz="1500" b="0">
                <a:solidFill>
                  <a:srgbClr val="000000"/>
                </a:solidFill>
              </a:rPr>
              <a:t>    –  Quantity conditions: inequalities on quantity magnitudes</a:t>
            </a:r>
          </a:p>
          <a:p>
            <a:pPr lvl="1">
              <a:spcBef>
                <a:spcPts val="200"/>
              </a:spcBef>
            </a:pPr>
            <a:r>
              <a:rPr sz="1500" b="0">
                <a:solidFill>
                  <a:srgbClr val="000000"/>
                </a:solidFill>
              </a:rPr>
              <a:t>    –  Relations: direct influences (I+, I−) and proportionalities (P+, P−)</a:t>
            </a:r>
          </a:p>
          <a:p>
            <a:pPr>
              <a:spcBef>
                <a:spcPts val="400"/>
              </a:spcBef>
            </a:pPr>
            <a:r>
              <a:rPr sz="1700" b="1">
                <a:solidFill>
                  <a:srgbClr val="1A375E"/>
                </a:solidFill>
              </a:rPr>
              <a:t>•  Direct influences set the sign of a quantity's derivative</a:t>
            </a:r>
          </a:p>
          <a:p>
            <a:pPr lvl="1">
              <a:spcBef>
                <a:spcPts val="200"/>
              </a:spcBef>
            </a:pPr>
            <a:r>
              <a:rPr sz="1500" b="0">
                <a:solidFill>
                  <a:srgbClr val="000000"/>
                </a:solidFill>
              </a:rPr>
              <a:t>    –  Heat flow into an object → I+(Temperature, Heat-Flow)</a:t>
            </a:r>
          </a:p>
          <a:p>
            <a:pPr>
              <a:spcBef>
                <a:spcPts val="400"/>
              </a:spcBef>
            </a:pPr>
            <a:r>
              <a:rPr sz="1700" b="1">
                <a:solidFill>
                  <a:srgbClr val="1A375E"/>
                </a:solidFill>
              </a:rPr>
              <a:t>•  Proportionalities propagate directional change through the system</a:t>
            </a:r>
          </a:p>
          <a:p>
            <a:pPr lvl="1">
              <a:spcBef>
                <a:spcPts val="200"/>
              </a:spcBef>
            </a:pPr>
            <a:r>
              <a:rPr sz="1500" b="0">
                <a:solidFill>
                  <a:srgbClr val="000000"/>
                </a:solidFill>
              </a:rPr>
              <a:t>    –  Higher temperature → proportionally higher pressure (P+)</a:t>
            </a:r>
          </a:p>
          <a:p>
            <a:pPr>
              <a:spcBef>
                <a:spcPts val="400"/>
              </a:spcBef>
            </a:pPr>
            <a:r>
              <a:rPr sz="1700" b="1">
                <a:solidFill>
                  <a:srgbClr val="1A375E"/>
                </a:solidFill>
              </a:rPr>
              <a:t>•  Process ontology vs. device ontology (de Kleer):</a:t>
            </a:r>
          </a:p>
          <a:p>
            <a:pPr lvl="1">
              <a:spcBef>
                <a:spcPts val="200"/>
              </a:spcBef>
            </a:pPr>
            <a:r>
              <a:rPr sz="1500" b="0">
                <a:solidFill>
                  <a:srgbClr val="000000"/>
                </a:solidFill>
              </a:rPr>
              <a:t>    –  QPT: causality flows from active processes, not component structure</a:t>
            </a:r>
          </a:p>
          <a:p>
            <a:pPr lvl="1">
              <a:spcBef>
                <a:spcPts val="200"/>
              </a:spcBef>
            </a:pPr>
            <a:r>
              <a:rPr sz="1500" b="0">
                <a:solidFill>
                  <a:srgbClr val="000000"/>
                </a:solidFill>
              </a:rPr>
              <a:t>    –  Both remain important — hybrid approaches exist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QSIM: Qualitative Simulation Algorithm (Kuipers)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Input: a Qualitative Differential Equation (QDE) + initial state</a:t>
            </a:r>
          </a:p>
          <a:p>
            <a:pPr>
              <a:spcBef>
                <a:spcPts val="400"/>
              </a:spcBef>
            </a:pPr>
            <a:r>
              <a:rPr sz="1700" b="1">
                <a:solidFill>
                  <a:srgbClr val="1A375E"/>
                </a:solidFill>
              </a:rPr>
              <a:t>•  Output: a tree (or graph) of all qualitatively consistent behaviors</a:t>
            </a:r>
          </a:p>
          <a:p>
            <a:pPr>
              <a:spcBef>
                <a:spcPts val="400"/>
              </a:spcBef>
            </a:pPr>
            <a:r>
              <a:rPr sz="1700" b="1">
                <a:solidFill>
                  <a:srgbClr val="1A375E"/>
                </a:solidFill>
              </a:rPr>
              <a:t>•  Algorithm sketch:</a:t>
            </a:r>
          </a:p>
          <a:p>
            <a:pPr lvl="1">
              <a:spcBef>
                <a:spcPts val="200"/>
              </a:spcBef>
            </a:pPr>
            <a:r>
              <a:rPr sz="1500" b="0">
                <a:solidFill>
                  <a:srgbClr val="000000"/>
                </a:solidFill>
              </a:rPr>
              <a:t>    –  1. Represent each quantity as (magnitude, derivative) in its quantity space</a:t>
            </a:r>
          </a:p>
          <a:p>
            <a:pPr lvl="1">
              <a:spcBef>
                <a:spcPts val="200"/>
              </a:spcBef>
            </a:pPr>
            <a:r>
              <a:rPr sz="1500" b="0">
                <a:solidFill>
                  <a:srgbClr val="000000"/>
                </a:solidFill>
              </a:rPr>
              <a:t>    –  2. Apply global filters: P+/P− consistency, ADD/MULT constraints, DERIV sign</a:t>
            </a:r>
          </a:p>
          <a:p>
            <a:pPr lvl="1">
              <a:spcBef>
                <a:spcPts val="200"/>
              </a:spcBef>
            </a:pPr>
            <a:r>
              <a:rPr sz="1500" b="0">
                <a:solidFill>
                  <a:srgbClr val="000000"/>
                </a:solidFill>
              </a:rPr>
              <a:t>    –  3. Generate all successor states — transitions happen at landmark crossings</a:t>
            </a:r>
          </a:p>
          <a:p>
            <a:pPr lvl="1">
              <a:spcBef>
                <a:spcPts val="200"/>
              </a:spcBef>
            </a:pPr>
            <a:r>
              <a:rPr sz="1500" b="0">
                <a:solidFill>
                  <a:srgbClr val="000000"/>
                </a:solidFill>
              </a:rPr>
              <a:t>    –  4. Prune states violating any constraint; recurse on survivors</a:t>
            </a:r>
          </a:p>
          <a:p>
            <a:pPr>
              <a:spcBef>
                <a:spcPts val="400"/>
              </a:spcBef>
            </a:pPr>
            <a:r>
              <a:rPr sz="1700" b="1">
                <a:solidFill>
                  <a:srgbClr val="1A375E"/>
                </a:solidFill>
              </a:rPr>
              <a:t>•  Key properties:</a:t>
            </a:r>
          </a:p>
          <a:p>
            <a:pPr lvl="1">
              <a:spcBef>
                <a:spcPts val="200"/>
              </a:spcBef>
            </a:pPr>
            <a:r>
              <a:rPr sz="1500" b="0">
                <a:solidFill>
                  <a:srgbClr val="000000"/>
                </a:solidFill>
              </a:rPr>
              <a:t>    –  Soundness: every real behavior is contained in the QSIM output</a:t>
            </a:r>
          </a:p>
          <a:p>
            <a:pPr lvl="1">
              <a:spcBef>
                <a:spcPts val="200"/>
              </a:spcBef>
            </a:pPr>
            <a:r>
              <a:rPr sz="1500" b="0">
                <a:solidFill>
                  <a:srgbClr val="000000"/>
                </a:solidFill>
              </a:rPr>
              <a:t>    –  Completeness: QSIM may predict spurious behaviors (false positives), never misses real ones</a:t>
            </a:r>
          </a:p>
          <a:p>
            <a:pPr lvl="1">
              <a:spcBef>
                <a:spcPts val="200"/>
              </a:spcBef>
            </a:pPr>
            <a:r>
              <a:rPr sz="1500" b="0">
                <a:solidFill>
                  <a:srgbClr val="000000"/>
                </a:solidFill>
              </a:rPr>
              <a:t>    –  Ambiguity is a feature: captures genuine uncertainty in model</a:t>
            </a:r>
          </a:p>
          <a:p>
            <a:pPr>
              <a:spcBef>
                <a:spcPts val="400"/>
              </a:spcBef>
            </a:pPr>
            <a:r>
              <a:rPr sz="1700" b="1">
                <a:solidFill>
                  <a:srgbClr val="1A375E"/>
                </a:solidFill>
              </a:rPr>
              <a:t>•  Extension: Order-of-Magnitude reasoning (Mavrovouniotis &amp; Stephanopoulos, 1988)</a:t>
            </a:r>
          </a:p>
          <a:p>
            <a:pPr lvl="1">
              <a:spcBef>
                <a:spcPts val="200"/>
              </a:spcBef>
            </a:pPr>
            <a:r>
              <a:rPr sz="1500" b="0">
                <a:solidFill>
                  <a:srgbClr val="000000"/>
                </a:solidFill>
              </a:rPr>
              <a:t>    –  Ranks quantities: negligible, comparable, dominant — finer than sign algebra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Compositional Modeling (Falkenhainer &amp; Forbus, 1991)</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Problem: hand-crafting a full model for each system is expensive and error-prone</a:t>
            </a:r>
          </a:p>
          <a:p>
            <a:pPr>
              <a:spcBef>
                <a:spcPts val="400"/>
              </a:spcBef>
            </a:pPr>
            <a:r>
              <a:rPr sz="1700" b="1">
                <a:solidFill>
                  <a:srgbClr val="1A375E"/>
                </a:solidFill>
              </a:rPr>
              <a:t>•  Solution: build models from a domain theory — a library of model fragments</a:t>
            </a:r>
          </a:p>
          <a:p>
            <a:pPr>
              <a:spcBef>
                <a:spcPts val="400"/>
              </a:spcBef>
            </a:pPr>
            <a:r>
              <a:rPr sz="1700" b="1">
                <a:solidFill>
                  <a:srgbClr val="1A375E"/>
                </a:solidFill>
              </a:rPr>
              <a:t>•  Model fragments encode reusable physical knowledge:</a:t>
            </a:r>
          </a:p>
          <a:p>
            <a:pPr lvl="1">
              <a:spcBef>
                <a:spcPts val="200"/>
              </a:spcBef>
            </a:pPr>
            <a:r>
              <a:rPr sz="1500" b="0">
                <a:solidFill>
                  <a:srgbClr val="000000"/>
                </a:solidFill>
              </a:rPr>
              <a:t>    –  Static model fragments: define entities and their properties</a:t>
            </a:r>
          </a:p>
          <a:p>
            <a:pPr lvl="1">
              <a:spcBef>
                <a:spcPts val="200"/>
              </a:spcBef>
            </a:pPr>
            <a:r>
              <a:rPr sz="1500" b="0">
                <a:solidFill>
                  <a:srgbClr val="000000"/>
                </a:solidFill>
              </a:rPr>
              <a:t>    –  Process model fragments: define causal processes (e.g., liquid-flow, heat-transfer)</a:t>
            </a:r>
          </a:p>
          <a:p>
            <a:pPr lvl="1">
              <a:spcBef>
                <a:spcPts val="200"/>
              </a:spcBef>
            </a:pPr>
            <a:r>
              <a:rPr sz="1500" b="0">
                <a:solidFill>
                  <a:srgbClr val="000000"/>
                </a:solidFill>
              </a:rPr>
              <a:t>    –  Agent model fragments: define external interventions</a:t>
            </a:r>
          </a:p>
          <a:p>
            <a:pPr>
              <a:spcBef>
                <a:spcPts val="400"/>
              </a:spcBef>
            </a:pPr>
            <a:r>
              <a:rPr sz="1700" b="1">
                <a:solidFill>
                  <a:srgbClr val="1A375E"/>
                </a:solidFill>
              </a:rPr>
              <a:t>•  Modeling assumptions control which fragments are relevant:</a:t>
            </a:r>
          </a:p>
          <a:p>
            <a:pPr lvl="1">
              <a:spcBef>
                <a:spcPts val="200"/>
              </a:spcBef>
            </a:pPr>
            <a:r>
              <a:rPr sz="1500" b="0">
                <a:solidFill>
                  <a:srgbClr val="000000"/>
                </a:solidFill>
              </a:rPr>
              <a:t>    –  Ontological assumptions: what kinds of things exist?</a:t>
            </a:r>
          </a:p>
          <a:p>
            <a:pPr lvl="1">
              <a:spcBef>
                <a:spcPts val="200"/>
              </a:spcBef>
            </a:pPr>
            <a:r>
              <a:rPr sz="1500" b="0">
                <a:solidFill>
                  <a:srgbClr val="000000"/>
                </a:solidFill>
              </a:rPr>
              <a:t>    –  Perspective assumptions: which aspects of behavior matter?</a:t>
            </a:r>
          </a:p>
          <a:p>
            <a:pPr lvl="1">
              <a:spcBef>
                <a:spcPts val="200"/>
              </a:spcBef>
            </a:pPr>
            <a:r>
              <a:rPr sz="1500" b="0">
                <a:solidFill>
                  <a:srgbClr val="000000"/>
                </a:solidFill>
              </a:rPr>
              <a:t>    –  Granularity assumptions: at what scale is the model operating?</a:t>
            </a:r>
          </a:p>
          <a:p>
            <a:pPr>
              <a:spcBef>
                <a:spcPts val="400"/>
              </a:spcBef>
            </a:pPr>
            <a:r>
              <a:rPr sz="1700" b="1">
                <a:solidFill>
                  <a:srgbClr val="1A375E"/>
                </a:solidFill>
              </a:rPr>
              <a:t>•  Result: given a scenario description, the system assembles the model automatically</a:t>
            </a:r>
          </a:p>
          <a:p>
            <a:pPr lvl="1">
              <a:spcBef>
                <a:spcPts val="200"/>
              </a:spcBef>
            </a:pPr>
            <a:r>
              <a:rPr sz="1500" b="0">
                <a:solidFill>
                  <a:srgbClr val="000000"/>
                </a:solidFill>
              </a:rPr>
              <a:t>    –  Supports reuse across domains: same heat-flow fragment applies to ovens, engines, ecosystems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Qualitative Spatial Reasoning and RCC-8</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Not all QR is about quantities — space and shape matter too</a:t>
            </a:r>
          </a:p>
          <a:p>
            <a:pPr>
              <a:spcBef>
                <a:spcPts val="400"/>
              </a:spcBef>
            </a:pPr>
            <a:r>
              <a:rPr sz="1700" b="1">
                <a:solidFill>
                  <a:srgbClr val="1A375E"/>
                </a:solidFill>
              </a:rPr>
              <a:t>•  RCC-8 (Region Connection Calculus): 8 qualitative relations between spatial regions</a:t>
            </a:r>
          </a:p>
          <a:p>
            <a:pPr lvl="1">
              <a:spcBef>
                <a:spcPts val="200"/>
              </a:spcBef>
            </a:pPr>
            <a:r>
              <a:rPr sz="1500" b="0">
                <a:solidFill>
                  <a:srgbClr val="000000"/>
                </a:solidFill>
              </a:rPr>
              <a:t>    –  DC: Disconnected  |  EC: Externally Connected  |  PO: Partially Overlapping</a:t>
            </a:r>
          </a:p>
          <a:p>
            <a:pPr lvl="1">
              <a:spcBef>
                <a:spcPts val="200"/>
              </a:spcBef>
            </a:pPr>
            <a:r>
              <a:rPr sz="1500" b="0">
                <a:solidFill>
                  <a:srgbClr val="000000"/>
                </a:solidFill>
              </a:rPr>
              <a:t>    –  TPP: Tangential Proper Part  |  NTPP: Non-Tangential Proper Part</a:t>
            </a:r>
          </a:p>
          <a:p>
            <a:pPr lvl="1">
              <a:spcBef>
                <a:spcPts val="200"/>
              </a:spcBef>
            </a:pPr>
            <a:r>
              <a:rPr sz="1500" b="0">
                <a:solidFill>
                  <a:srgbClr val="000000"/>
                </a:solidFill>
              </a:rPr>
              <a:t>    –  TPPi, NTPPi (inverses)  |  EQ: Equal</a:t>
            </a:r>
          </a:p>
          <a:p>
            <a:pPr>
              <a:spcBef>
                <a:spcPts val="400"/>
              </a:spcBef>
            </a:pPr>
            <a:r>
              <a:rPr sz="1700" b="1">
                <a:solidFill>
                  <a:srgbClr val="1A375E"/>
                </a:solidFill>
              </a:rPr>
              <a:t>•  Composition table: if A EC B and B DC C, what is the relation between A and C?</a:t>
            </a:r>
          </a:p>
          <a:p>
            <a:pPr lvl="1">
              <a:spcBef>
                <a:spcPts val="200"/>
              </a:spcBef>
            </a:pPr>
            <a:r>
              <a:rPr sz="1500" b="0">
                <a:solidFill>
                  <a:srgbClr val="000000"/>
                </a:solidFill>
              </a:rPr>
              <a:t>    –  27 base cases; each cell is a set of possible relations</a:t>
            </a:r>
          </a:p>
          <a:p>
            <a:pPr lvl="1">
              <a:spcBef>
                <a:spcPts val="200"/>
              </a:spcBef>
            </a:pPr>
            <a:r>
              <a:rPr sz="1500" b="0">
                <a:solidFill>
                  <a:srgbClr val="000000"/>
                </a:solidFill>
              </a:rPr>
              <a:t>    –  Formal reasoning: sound and complete (unlike LLMs, as we will see)</a:t>
            </a:r>
          </a:p>
          <a:p>
            <a:pPr>
              <a:spcBef>
                <a:spcPts val="400"/>
              </a:spcBef>
            </a:pPr>
            <a:r>
              <a:rPr sz="1700" b="1">
                <a:solidFill>
                  <a:srgbClr val="1A375E"/>
                </a:solidFill>
              </a:rPr>
              <a:t>•  Conceptual neighborhood: which relations are topologically adjacent?</a:t>
            </a:r>
          </a:p>
          <a:p>
            <a:pPr lvl="1">
              <a:spcBef>
                <a:spcPts val="200"/>
              </a:spcBef>
            </a:pPr>
            <a:r>
              <a:rPr sz="1500" b="0">
                <a:solidFill>
                  <a:srgbClr val="000000"/>
                </a:solidFill>
              </a:rPr>
              <a:t>    –  DC can transition to EC smoothly; DC cannot jump directly to NTPP</a:t>
            </a:r>
          </a:p>
          <a:p>
            <a:pPr>
              <a:spcBef>
                <a:spcPts val="400"/>
              </a:spcBef>
            </a:pPr>
            <a:r>
              <a:rPr sz="1700" b="1">
                <a:solidFill>
                  <a:srgbClr val="1A375E"/>
                </a:solidFill>
              </a:rPr>
              <a:t>•  Applications: robotics, geographic information systems (GIS), CAD, visual reasoning</a:t>
            </a:r>
          </a:p>
          <a:p>
            <a:pPr>
              <a:spcBef>
                <a:spcPts val="400"/>
              </a:spcBef>
            </a:pPr>
            <a:r>
              <a:rPr sz="1700" b="1">
                <a:solidFill>
                  <a:srgbClr val="1A375E"/>
                </a:solidFill>
              </a:rPr>
              <a:t>•  CogSketch (Forbus et al.): diagrammatic reasoning using qualitative spatial representations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5E9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280160"/>
          </a:xfrm>
          <a:prstGeom prst="rect">
            <a:avLst/>
          </a:prstGeom>
          <a:noFill/>
        </p:spPr>
        <p:txBody>
          <a:bodyPr wrap="square">
            <a:spAutoFit/>
          </a:bodyPr>
          <a:lstStyle/>
          <a:p>
            <a:pPr algn="l"/>
            <a:r>
              <a:rPr sz="3600" b="1" i="0">
                <a:solidFill>
                  <a:srgbClr val="FFFFFF"/>
                </a:solidFill>
              </a:rPr>
              <a:t>Part 2 — Pre-AI Origins (1960s–1970s)</a:t>
            </a:r>
          </a:p>
        </p:txBody>
      </p:sp>
      <p:sp>
        <p:nvSpPr>
          <p:cNvPr id="4" name="TextBox 3"/>
          <p:cNvSpPr txBox="1"/>
          <p:nvPr/>
        </p:nvSpPr>
        <p:spPr>
          <a:xfrm>
            <a:off x="731520" y="3749039"/>
            <a:ext cx="10698480" cy="914400"/>
          </a:xfrm>
          <a:prstGeom prst="rect">
            <a:avLst/>
          </a:prstGeom>
          <a:noFill/>
        </p:spPr>
        <p:txBody>
          <a:bodyPr wrap="square">
            <a:spAutoFit/>
          </a:bodyPr>
          <a:lstStyle/>
          <a:p>
            <a:pPr algn="l"/>
            <a:r>
              <a:rPr sz="2000" b="0" i="0">
                <a:solidFill>
                  <a:srgbClr val="D6E4F7"/>
                </a:solidFill>
              </a:rPr>
              <a:t>Sign algebra, comparative statics, and the Naïve Physics manifesto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Pre-AI Origins: Sign Algebra in Economics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The oldest form of QR traces to mathematical economics, not AI</a:t>
            </a:r>
          </a:p>
          <a:p>
            <a:pPr>
              <a:spcBef>
                <a:spcPts val="400"/>
              </a:spcBef>
            </a:pPr>
            <a:r>
              <a:rPr sz="1700" b="1">
                <a:solidFill>
                  <a:srgbClr val="1A375E"/>
                </a:solidFill>
              </a:rPr>
              <a:t>•  Lancaster (1962) — 'The Solution of Qualitative Comparative Static Problems'</a:t>
            </a:r>
          </a:p>
          <a:p>
            <a:pPr lvl="1">
              <a:spcBef>
                <a:spcPts val="200"/>
              </a:spcBef>
            </a:pPr>
            <a:r>
              <a:rPr sz="1500" b="0">
                <a:solidFill>
                  <a:srgbClr val="000000"/>
                </a:solidFill>
              </a:rPr>
              <a:t>    –  Introduced formal sign algebra for economic models</a:t>
            </a:r>
          </a:p>
          <a:p>
            <a:pPr lvl="1">
              <a:spcBef>
                <a:spcPts val="200"/>
              </a:spcBef>
            </a:pPr>
            <a:r>
              <a:rPr sz="1500" b="0">
                <a:solidFill>
                  <a:srgbClr val="000000"/>
                </a:solidFill>
              </a:rPr>
              <a:t>    –  Comparative statics: if a parameter changes, which way does equilibrium shift?</a:t>
            </a:r>
          </a:p>
          <a:p>
            <a:pPr lvl="1">
              <a:spcBef>
                <a:spcPts val="200"/>
              </a:spcBef>
            </a:pPr>
            <a:r>
              <a:rPr sz="1500" b="0">
                <a:solidFill>
                  <a:srgbClr val="000000"/>
                </a:solidFill>
              </a:rPr>
              <a:t>    –  Signed Jacobian matrices: each entry is +, −, or 0</a:t>
            </a:r>
          </a:p>
          <a:p>
            <a:pPr>
              <a:spcBef>
                <a:spcPts val="400"/>
              </a:spcBef>
            </a:pPr>
            <a:r>
              <a:rPr sz="1700" b="1">
                <a:solidFill>
                  <a:srgbClr val="1A375E"/>
                </a:solidFill>
              </a:rPr>
              <a:t>•  Samuelson (1947) — Foundations of Economic Analysis</a:t>
            </a:r>
          </a:p>
          <a:p>
            <a:pPr lvl="1">
              <a:spcBef>
                <a:spcPts val="200"/>
              </a:spcBef>
            </a:pPr>
            <a:r>
              <a:rPr sz="1500" b="0">
                <a:solidFill>
                  <a:srgbClr val="000000"/>
                </a:solidFill>
              </a:rPr>
              <a:t>    –  Qualitative restrictions as the basis for testable hypotheses</a:t>
            </a:r>
          </a:p>
          <a:p>
            <a:pPr lvl="1">
              <a:spcBef>
                <a:spcPts val="200"/>
              </a:spcBef>
            </a:pPr>
            <a:r>
              <a:rPr sz="1500" b="0">
                <a:solidFill>
                  <a:srgbClr val="000000"/>
                </a:solidFill>
              </a:rPr>
              <a:t>    –  Foundation for what became 'qualitative economics'</a:t>
            </a:r>
          </a:p>
          <a:p>
            <a:pPr>
              <a:spcBef>
                <a:spcPts val="400"/>
              </a:spcBef>
            </a:pPr>
            <a:r>
              <a:rPr sz="1700" b="1">
                <a:solidFill>
                  <a:srgbClr val="1A375E"/>
                </a:solidFill>
              </a:rPr>
              <a:t>•  Gorman (1964), Bassett et al. (1968): extended sign algebra to dynamic models</a:t>
            </a:r>
          </a:p>
          <a:p>
            <a:pPr>
              <a:spcBef>
                <a:spcPts val="400"/>
              </a:spcBef>
            </a:pPr>
            <a:r>
              <a:rPr sz="1700" b="1">
                <a:solidFill>
                  <a:srgbClr val="1A375E"/>
                </a:solidFill>
              </a:rPr>
              <a:t>•  Key limitation: static models only — no concept of time or state transitions</a:t>
            </a:r>
          </a:p>
          <a:p>
            <a:pPr>
              <a:spcBef>
                <a:spcPts val="400"/>
              </a:spcBef>
            </a:pPr>
            <a:r>
              <a:rPr sz="1700" b="1">
                <a:solidFill>
                  <a:srgbClr val="1A375E"/>
                </a:solidFill>
              </a:rPr>
              <a:t>•  AI would later add the dynamic dimension, causal mechanisms, and explanation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Pre-AI Origins: Control Theory (1960s–1970s)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Signed-graph / influence-diagram analysis in control engineering</a:t>
            </a:r>
          </a:p>
          <a:p>
            <a:pPr>
              <a:spcBef>
                <a:spcPts val="400"/>
              </a:spcBef>
            </a:pPr>
            <a:r>
              <a:rPr sz="1700" b="1">
                <a:solidFill>
                  <a:srgbClr val="1A375E"/>
                </a:solidFill>
              </a:rPr>
              <a:t>•  Loop analysis (Puccia &amp; Levins, 1985 — consolidating prior work):</a:t>
            </a:r>
          </a:p>
          <a:p>
            <a:pPr lvl="1">
              <a:spcBef>
                <a:spcPts val="200"/>
              </a:spcBef>
            </a:pPr>
            <a:r>
              <a:rPr sz="1500" b="0">
                <a:solidFill>
                  <a:srgbClr val="000000"/>
                </a:solidFill>
              </a:rPr>
              <a:t>    –  Represent systems as signed directed graphs</a:t>
            </a:r>
          </a:p>
          <a:p>
            <a:pPr lvl="1">
              <a:spcBef>
                <a:spcPts val="200"/>
              </a:spcBef>
            </a:pPr>
            <a:r>
              <a:rPr sz="1500" b="0">
                <a:solidFill>
                  <a:srgbClr val="000000"/>
                </a:solidFill>
              </a:rPr>
              <a:t>    –  Edge sign indicates direction of influence: + or −</a:t>
            </a:r>
          </a:p>
          <a:p>
            <a:pPr lvl="1">
              <a:spcBef>
                <a:spcPts val="200"/>
              </a:spcBef>
            </a:pPr>
            <a:r>
              <a:rPr sz="1500" b="0">
                <a:solidFill>
                  <a:srgbClr val="000000"/>
                </a:solidFill>
              </a:rPr>
              <a:t>    –  Determine system-level stability from graph structure</a:t>
            </a:r>
          </a:p>
          <a:p>
            <a:pPr>
              <a:spcBef>
                <a:spcPts val="400"/>
              </a:spcBef>
            </a:pPr>
            <a:r>
              <a:rPr sz="1700" b="1">
                <a:solidFill>
                  <a:srgbClr val="1A375E"/>
                </a:solidFill>
              </a:rPr>
              <a:t>•  Quirk, Ruppert &amp; Saposnik (1968) — 'Qualitative economics and the stability of equilibrium'</a:t>
            </a:r>
          </a:p>
          <a:p>
            <a:pPr lvl="1">
              <a:spcBef>
                <a:spcPts val="200"/>
              </a:spcBef>
            </a:pPr>
            <a:r>
              <a:rPr sz="1500" b="0">
                <a:solidFill>
                  <a:srgbClr val="000000"/>
                </a:solidFill>
              </a:rPr>
              <a:t>    –  Conditions on sign patterns sufficient for unique equilibrium</a:t>
            </a:r>
          </a:p>
          <a:p>
            <a:pPr>
              <a:spcBef>
                <a:spcPts val="400"/>
              </a:spcBef>
            </a:pPr>
            <a:r>
              <a:rPr sz="1700" b="1">
                <a:solidFill>
                  <a:srgbClr val="1A375E"/>
                </a:solidFill>
              </a:rPr>
              <a:t>•  Roberts (1971, 1976) — pulse processes on signed digraphs</a:t>
            </a:r>
          </a:p>
          <a:p>
            <a:pPr lvl="1">
              <a:spcBef>
                <a:spcPts val="200"/>
              </a:spcBef>
            </a:pPr>
            <a:r>
              <a:rPr sz="1500" b="0">
                <a:solidFill>
                  <a:srgbClr val="000000"/>
                </a:solidFill>
              </a:rPr>
              <a:t>    –  Models ecological and social systems qualitatively</a:t>
            </a:r>
          </a:p>
          <a:p>
            <a:pPr lvl="1">
              <a:spcBef>
                <a:spcPts val="200"/>
              </a:spcBef>
            </a:pPr>
            <a:r>
              <a:rPr sz="1500" b="0">
                <a:solidFill>
                  <a:srgbClr val="000000"/>
                </a:solidFill>
              </a:rPr>
              <a:t>    –  First formal treatment of qualitative dynamics</a:t>
            </a:r>
          </a:p>
          <a:p>
            <a:pPr>
              <a:spcBef>
                <a:spcPts val="400"/>
              </a:spcBef>
            </a:pPr>
            <a:r>
              <a:rPr sz="1700" b="1">
                <a:solidFill>
                  <a:srgbClr val="1A375E"/>
                </a:solidFill>
              </a:rPr>
              <a:t>•  Connection to AI: these formalisms had no inference engine, no explanation capability</a:t>
            </a:r>
          </a:p>
          <a:p>
            <a:pPr lvl="1">
              <a:spcBef>
                <a:spcPts val="200"/>
              </a:spcBef>
            </a:pPr>
            <a:r>
              <a:rPr sz="1500" b="0">
                <a:solidFill>
                  <a:srgbClr val="000000"/>
                </a:solidFill>
              </a:rPr>
              <a:t>    –  AI contributions: formal soundness proofs, simulation algorithms, knowledge representation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75E"/>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Naïve Physics Manifesto — Patrick Hayes (1977)</a:t>
            </a:r>
          </a:p>
        </p:txBody>
      </p:sp>
      <p:sp>
        <p:nvSpPr>
          <p:cNvPr id="4" name="TextBox 3"/>
          <p:cNvSpPr txBox="1"/>
          <p:nvPr/>
        </p:nvSpPr>
        <p:spPr>
          <a:xfrm>
            <a:off x="274320" y="1005840"/>
            <a:ext cx="1371600" cy="1828800"/>
          </a:xfrm>
          <a:prstGeom prst="rect">
            <a:avLst/>
          </a:prstGeom>
          <a:noFill/>
        </p:spPr>
        <p:txBody>
          <a:bodyPr wrap="square">
            <a:spAutoFit/>
          </a:bodyPr>
          <a:lstStyle/>
          <a:p>
            <a:pPr algn="l"/>
            <a:r>
              <a:rPr sz="12000" b="1" i="0">
                <a:solidFill>
                  <a:srgbClr val="4A7AC0"/>
                </a:solidFill>
              </a:rPr>
              <a:t>“</a:t>
            </a:r>
          </a:p>
        </p:txBody>
      </p:sp>
      <p:sp>
        <p:nvSpPr>
          <p:cNvPr id="5" name="TextBox 4"/>
          <p:cNvSpPr txBox="1"/>
          <p:nvPr/>
        </p:nvSpPr>
        <p:spPr>
          <a:xfrm>
            <a:off x="1097280" y="1645920"/>
            <a:ext cx="9875520" cy="3657600"/>
          </a:xfrm>
          <a:prstGeom prst="rect">
            <a:avLst/>
          </a:prstGeom>
          <a:noFill/>
        </p:spPr>
        <p:txBody>
          <a:bodyPr wrap="square">
            <a:spAutoFit/>
          </a:bodyPr>
          <a:lstStyle/>
          <a:p>
            <a:pPr algn="l"/>
            <a:r>
              <a:rPr sz="2000" b="0" i="1">
                <a:solidFill>
                  <a:srgbClr val="FFFFFF"/>
                </a:solidFill>
              </a:rPr>
              <a:t>We need to formalise a sizable portion of commonsense knowledge about the physical world: about objects, their shapes, space, time, movement, substances, and so on. The naive physicist's world is rich, complex and various. It will take a large and careful effort to formalise it. But it can and should be done.</a:t>
            </a:r>
          </a:p>
        </p:txBody>
      </p:sp>
      <p:sp>
        <p:nvSpPr>
          <p:cNvPr id="6" name="TextBox 5"/>
          <p:cNvSpPr txBox="1"/>
          <p:nvPr/>
        </p:nvSpPr>
        <p:spPr>
          <a:xfrm>
            <a:off x="1097280" y="5394960"/>
            <a:ext cx="9875520" cy="640080"/>
          </a:xfrm>
          <a:prstGeom prst="rect">
            <a:avLst/>
          </a:prstGeom>
          <a:noFill/>
        </p:spPr>
        <p:txBody>
          <a:bodyPr wrap="square">
            <a:spAutoFit/>
          </a:bodyPr>
          <a:lstStyle/>
          <a:p>
            <a:pPr algn="r"/>
            <a:r>
              <a:rPr sz="1600" b="0" i="0">
                <a:solidFill>
                  <a:srgbClr val="D6E4F7"/>
                </a:solidFill>
              </a:rPr>
              <a:t>— Patrick Hayes, 'In Defence of Logic', IJCAI 1977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Naïve Physics: The Research Agenda</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Hayes (1977, 1979, 1985) articulated what AI needed to do:</a:t>
            </a:r>
          </a:p>
          <a:p>
            <a:pPr lvl="1">
              <a:spcBef>
                <a:spcPts val="200"/>
              </a:spcBef>
            </a:pPr>
            <a:r>
              <a:rPr sz="1500" b="0">
                <a:solidFill>
                  <a:srgbClr val="000000"/>
                </a:solidFill>
              </a:rPr>
              <a:t>    –  Model the everyday physical world in formal logic</a:t>
            </a:r>
          </a:p>
          <a:p>
            <a:pPr lvl="1">
              <a:spcBef>
                <a:spcPts val="200"/>
              </a:spcBef>
            </a:pPr>
            <a:r>
              <a:rPr sz="1500" b="0">
                <a:solidFill>
                  <a:srgbClr val="000000"/>
                </a:solidFill>
              </a:rPr>
              <a:t>    –  Cover: solid objects, liquids, shapes, space, time, movement, change</a:t>
            </a:r>
          </a:p>
          <a:p>
            <a:pPr lvl="1">
              <a:spcBef>
                <a:spcPts val="200"/>
              </a:spcBef>
            </a:pPr>
            <a:r>
              <a:rPr sz="1500" b="0">
                <a:solidFill>
                  <a:srgbClr val="000000"/>
                </a:solidFill>
              </a:rPr>
              <a:t>    –  Make implicit commonsense knowledge explicit and computable</a:t>
            </a:r>
          </a:p>
          <a:p>
            <a:pPr>
              <a:spcBef>
                <a:spcPts val="400"/>
              </a:spcBef>
            </a:pPr>
            <a:r>
              <a:rPr sz="1700" b="1">
                <a:solidFill>
                  <a:srgbClr val="1A375E"/>
                </a:solidFill>
              </a:rPr>
              <a:t>•  Hayes' Histories (1985): formal theory of liquid behavior</a:t>
            </a:r>
          </a:p>
          <a:p>
            <a:pPr lvl="1">
              <a:spcBef>
                <a:spcPts val="200"/>
              </a:spcBef>
            </a:pPr>
            <a:r>
              <a:rPr sz="1500" b="0">
                <a:solidFill>
                  <a:srgbClr val="000000"/>
                </a:solidFill>
              </a:rPr>
              <a:t>    –  Spatial-temporal histories: regions of space-time occupied by matter</a:t>
            </a:r>
          </a:p>
          <a:p>
            <a:pPr lvl="1">
              <a:spcBef>
                <a:spcPts val="200"/>
              </a:spcBef>
            </a:pPr>
            <a:r>
              <a:rPr sz="1500" b="0">
                <a:solidFill>
                  <a:srgbClr val="000000"/>
                </a:solidFill>
              </a:rPr>
              <a:t>    –  Portals: points of connection through which fluid flows</a:t>
            </a:r>
          </a:p>
          <a:p>
            <a:pPr lvl="1">
              <a:spcBef>
                <a:spcPts val="200"/>
              </a:spcBef>
            </a:pPr>
            <a:r>
              <a:rPr sz="1500" b="0">
                <a:solidFill>
                  <a:srgbClr val="000000"/>
                </a:solidFill>
              </a:rPr>
              <a:t>    –  'Naïve physics is hard' — history theory alone ran to dozens of axioms</a:t>
            </a:r>
          </a:p>
          <a:p>
            <a:pPr>
              <a:spcBef>
                <a:spcPts val="400"/>
              </a:spcBef>
            </a:pPr>
            <a:r>
              <a:rPr sz="1700" b="1">
                <a:solidFill>
                  <a:srgbClr val="1A375E"/>
                </a:solidFill>
              </a:rPr>
              <a:t>•  Impact on AI:</a:t>
            </a:r>
          </a:p>
          <a:p>
            <a:pPr lvl="1">
              <a:spcBef>
                <a:spcPts val="200"/>
              </a:spcBef>
            </a:pPr>
            <a:r>
              <a:rPr sz="1500" b="0">
                <a:solidFill>
                  <a:srgbClr val="000000"/>
                </a:solidFill>
              </a:rPr>
              <a:t>    –  Catalyzed the QR research program at MIT (de Kleer, Forbus)</a:t>
            </a:r>
          </a:p>
          <a:p>
            <a:pPr lvl="1">
              <a:spcBef>
                <a:spcPts val="200"/>
              </a:spcBef>
            </a:pPr>
            <a:r>
              <a:rPr sz="1500" b="0">
                <a:solidFill>
                  <a:srgbClr val="000000"/>
                </a:solidFill>
              </a:rPr>
              <a:t>    –  Established that commonsense physical reasoning is a tractable research target</a:t>
            </a:r>
          </a:p>
          <a:p>
            <a:pPr lvl="1">
              <a:spcBef>
                <a:spcPts val="200"/>
              </a:spcBef>
            </a:pPr>
            <a:r>
              <a:rPr sz="1500" b="0">
                <a:solidFill>
                  <a:srgbClr val="000000"/>
                </a:solidFill>
              </a:rPr>
              <a:t>    –  Framed the problem as knowledge engineering, not statistical learning</a:t>
            </a:r>
          </a:p>
          <a:p>
            <a:pPr>
              <a:spcBef>
                <a:spcPts val="400"/>
              </a:spcBef>
            </a:pPr>
            <a:r>
              <a:rPr sz="1700" b="1">
                <a:solidFill>
                  <a:srgbClr val="1A375E"/>
                </a:solidFill>
              </a:rPr>
              <a:t>•  Still relevant today: the 'grounding problem' for LLMs echoes Hayes' original concern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5E9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280160"/>
          </a:xfrm>
          <a:prstGeom prst="rect">
            <a:avLst/>
          </a:prstGeom>
          <a:noFill/>
        </p:spPr>
        <p:txBody>
          <a:bodyPr wrap="square">
            <a:spAutoFit/>
          </a:bodyPr>
          <a:lstStyle/>
          <a:p>
            <a:pPr algn="l"/>
            <a:r>
              <a:rPr sz="3600" b="1" i="0">
                <a:solidFill>
                  <a:srgbClr val="FFFFFF"/>
                </a:solidFill>
              </a:rPr>
              <a:t>Part 3 — The AI Era (1977–present)</a:t>
            </a:r>
          </a:p>
        </p:txBody>
      </p:sp>
      <p:sp>
        <p:nvSpPr>
          <p:cNvPr id="4" name="TextBox 3"/>
          <p:cNvSpPr txBox="1"/>
          <p:nvPr/>
        </p:nvSpPr>
        <p:spPr>
          <a:xfrm>
            <a:off x="731520" y="3749039"/>
            <a:ext cx="10698480" cy="914400"/>
          </a:xfrm>
          <a:prstGeom prst="rect">
            <a:avLst/>
          </a:prstGeom>
          <a:noFill/>
        </p:spPr>
        <p:txBody>
          <a:bodyPr wrap="square">
            <a:spAutoFit/>
          </a:bodyPr>
          <a:lstStyle/>
          <a:p>
            <a:pPr algn="l"/>
            <a:r>
              <a:rPr sz="2000" b="0" i="0">
                <a:solidFill>
                  <a:srgbClr val="D6E4F7"/>
                </a:solidFill>
              </a:rPr>
              <a:t>Foundational papers, algorithms, and real-world applications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Founding Moment: 1984 AI Journal Special Issue</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Three simultaneous landmark papers, all in Artificial Intelligence vol. 24 (1984):</a:t>
            </a:r>
          </a:p>
          <a:p>
            <a:pPr>
              <a:spcBef>
                <a:spcPts val="400"/>
              </a:spcBef>
            </a:pPr>
            <a:r>
              <a:rPr sz="1700" b="1">
                <a:solidFill>
                  <a:srgbClr val="1A375E"/>
                </a:solidFill>
              </a:rPr>
              <a:t>•  de Kleer &amp; Brown — 'A Qualitative Physics Based on Confluences'</a:t>
            </a:r>
          </a:p>
          <a:p>
            <a:pPr lvl="1">
              <a:spcBef>
                <a:spcPts val="200"/>
              </a:spcBef>
            </a:pPr>
            <a:r>
              <a:rPr sz="1500" b="0">
                <a:solidFill>
                  <a:srgbClr val="000000"/>
                </a:solidFill>
              </a:rPr>
              <a:t>    –  Confluences: algebraic constraints over sign algebra</a:t>
            </a:r>
          </a:p>
          <a:p>
            <a:pPr lvl="1">
              <a:spcBef>
                <a:spcPts val="200"/>
              </a:spcBef>
            </a:pPr>
            <a:r>
              <a:rPr sz="1500" b="0">
                <a:solidFill>
                  <a:srgbClr val="000000"/>
                </a:solidFill>
              </a:rPr>
              <a:t>    –  Device-centered: model systems as networks of interacting components</a:t>
            </a:r>
          </a:p>
          <a:p>
            <a:pPr lvl="1">
              <a:spcBef>
                <a:spcPts val="200"/>
              </a:spcBef>
            </a:pPr>
            <a:r>
              <a:rPr sz="1500" b="0">
                <a:solidFill>
                  <a:srgbClr val="000000"/>
                </a:solidFill>
              </a:rPr>
              <a:t>    –  Envisionment: exhaustively enumerate all qualitative states</a:t>
            </a:r>
          </a:p>
          <a:p>
            <a:pPr>
              <a:spcBef>
                <a:spcPts val="400"/>
              </a:spcBef>
            </a:pPr>
            <a:r>
              <a:rPr sz="1700" b="1">
                <a:solidFill>
                  <a:srgbClr val="1A375E"/>
                </a:solidFill>
              </a:rPr>
              <a:t>•  Forbus — 'Qualitative Process Theory'</a:t>
            </a:r>
          </a:p>
          <a:p>
            <a:pPr lvl="1">
              <a:spcBef>
                <a:spcPts val="200"/>
              </a:spcBef>
            </a:pPr>
            <a:r>
              <a:rPr sz="1500" b="0">
                <a:solidFill>
                  <a:srgbClr val="000000"/>
                </a:solidFill>
              </a:rPr>
              <a:t>    –  Process-centered: continuous change is caused by active processes</a:t>
            </a:r>
          </a:p>
          <a:p>
            <a:pPr lvl="1">
              <a:spcBef>
                <a:spcPts val="200"/>
              </a:spcBef>
            </a:pPr>
            <a:r>
              <a:rPr sz="1500" b="0">
                <a:solidFill>
                  <a:srgbClr val="000000"/>
                </a:solidFill>
              </a:rPr>
              <a:t>    –  I+, I−, P+, P− relations; formal condition system for process activity</a:t>
            </a:r>
          </a:p>
          <a:p>
            <a:pPr>
              <a:spcBef>
                <a:spcPts val="400"/>
              </a:spcBef>
            </a:pPr>
            <a:r>
              <a:rPr sz="1700" b="1">
                <a:solidFill>
                  <a:srgbClr val="1A375E"/>
                </a:solidFill>
              </a:rPr>
              <a:t>•  Kuipers — 'Commonsense Reasoning about Causality: Deriving Behavior from Structure'</a:t>
            </a:r>
          </a:p>
          <a:p>
            <a:pPr lvl="1">
              <a:spcBef>
                <a:spcPts val="200"/>
              </a:spcBef>
            </a:pPr>
            <a:r>
              <a:rPr sz="1500" b="0">
                <a:solidFill>
                  <a:srgbClr val="000000"/>
                </a:solidFill>
              </a:rPr>
              <a:t>    –  Earliest version of QSIM ideas — behavior from structural description</a:t>
            </a:r>
          </a:p>
          <a:p>
            <a:pPr lvl="1">
              <a:spcBef>
                <a:spcPts val="200"/>
              </a:spcBef>
            </a:pPr>
            <a:r>
              <a:rPr sz="1500" b="0">
                <a:solidFill>
                  <a:srgbClr val="000000"/>
                </a:solidFill>
              </a:rPr>
              <a:t>    –  Extended later into full QSIM (1986) with QDEs</a:t>
            </a:r>
          </a:p>
          <a:p>
            <a:pPr>
              <a:spcBef>
                <a:spcPts val="400"/>
              </a:spcBef>
            </a:pPr>
            <a:r>
              <a:rPr sz="1700" b="1">
                <a:solidFill>
                  <a:srgbClr val="1A375E"/>
                </a:solidFill>
              </a:rPr>
              <a:t>•  These papers defined the field. QR has held annual workshops since 1987.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QR Workshop Series (1987–present)</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Annual workshop co-located with major AI conferences (IJCAI, AAAI, ECAI)</a:t>
            </a:r>
          </a:p>
          <a:p>
            <a:pPr>
              <a:spcBef>
                <a:spcPts val="400"/>
              </a:spcBef>
            </a:pPr>
            <a:r>
              <a:rPr sz="1700" b="1">
                <a:solidFill>
                  <a:srgbClr val="1A375E"/>
                </a:solidFill>
              </a:rPr>
              <a:t>•  Now in its 39th year — one of AI's longest-running specialized workshops</a:t>
            </a:r>
          </a:p>
          <a:p>
            <a:pPr>
              <a:spcBef>
                <a:spcPts val="400"/>
              </a:spcBef>
            </a:pPr>
            <a:r>
              <a:rPr sz="1700" b="1">
                <a:solidFill>
                  <a:srgbClr val="1A375E"/>
                </a:solidFill>
              </a:rPr>
              <a:t>•  Workshop scope has expanded from physics to:</a:t>
            </a:r>
          </a:p>
          <a:p>
            <a:pPr lvl="1">
              <a:spcBef>
                <a:spcPts val="200"/>
              </a:spcBef>
            </a:pPr>
            <a:r>
              <a:rPr sz="1500" b="0">
                <a:solidFill>
                  <a:srgbClr val="000000"/>
                </a:solidFill>
              </a:rPr>
              <a:t>    –  Engineering design and diagnosis</a:t>
            </a:r>
          </a:p>
          <a:p>
            <a:pPr lvl="1">
              <a:spcBef>
                <a:spcPts val="200"/>
              </a:spcBef>
            </a:pPr>
            <a:r>
              <a:rPr sz="1500" b="0">
                <a:solidFill>
                  <a:srgbClr val="000000"/>
                </a:solidFill>
              </a:rPr>
              <a:t>    –  Education and intelligent tutoring</a:t>
            </a:r>
          </a:p>
          <a:p>
            <a:pPr lvl="1">
              <a:spcBef>
                <a:spcPts val="200"/>
              </a:spcBef>
            </a:pPr>
            <a:r>
              <a:rPr sz="1500" b="0">
                <a:solidFill>
                  <a:srgbClr val="000000"/>
                </a:solidFill>
              </a:rPr>
              <a:t>    –  Ecological and biological systems</a:t>
            </a:r>
          </a:p>
          <a:p>
            <a:pPr lvl="1">
              <a:spcBef>
                <a:spcPts val="200"/>
              </a:spcBef>
            </a:pPr>
            <a:r>
              <a:rPr sz="1500" b="0">
                <a:solidFill>
                  <a:srgbClr val="000000"/>
                </a:solidFill>
              </a:rPr>
              <a:t>    –  Social and economic systems</a:t>
            </a:r>
          </a:p>
          <a:p>
            <a:pPr lvl="1">
              <a:spcBef>
                <a:spcPts val="200"/>
              </a:spcBef>
            </a:pPr>
            <a:r>
              <a:rPr sz="1500" b="0">
                <a:solidFill>
                  <a:srgbClr val="000000"/>
                </a:solidFill>
              </a:rPr>
              <a:t>    –  Autonomous vehicles and robotics</a:t>
            </a:r>
          </a:p>
          <a:p>
            <a:pPr lvl="1">
              <a:spcBef>
                <a:spcPts val="200"/>
              </a:spcBef>
            </a:pPr>
            <a:r>
              <a:rPr sz="1500" b="0">
                <a:solidFill>
                  <a:srgbClr val="000000"/>
                </a:solidFill>
              </a:rPr>
              <a:t>    –  Natural language understanding</a:t>
            </a:r>
          </a:p>
          <a:p>
            <a:pPr lvl="1">
              <a:spcBef>
                <a:spcPts val="200"/>
              </a:spcBef>
            </a:pPr>
            <a:r>
              <a:rPr sz="1500" b="0">
                <a:solidFill>
                  <a:srgbClr val="000000"/>
                </a:solidFill>
              </a:rPr>
              <a:t>    –  LLM evaluation and integration (most recently)</a:t>
            </a:r>
          </a:p>
          <a:p>
            <a:pPr>
              <a:spcBef>
                <a:spcPts val="400"/>
              </a:spcBef>
            </a:pPr>
            <a:r>
              <a:rPr sz="1700" b="1">
                <a:solidFill>
                  <a:srgbClr val="1A375E"/>
                </a:solidFill>
              </a:rPr>
              <a:t>•  Key software artifacts developed by the community:</a:t>
            </a:r>
          </a:p>
          <a:p>
            <a:pPr lvl="1">
              <a:spcBef>
                <a:spcPts val="200"/>
              </a:spcBef>
            </a:pPr>
            <a:r>
              <a:rPr sz="1500" b="0">
                <a:solidFill>
                  <a:srgbClr val="000000"/>
                </a:solidFill>
              </a:rPr>
              <a:t>    –  QSIM (Kuipers, UT Austin)</a:t>
            </a:r>
          </a:p>
          <a:p>
            <a:pPr lvl="1">
              <a:spcBef>
                <a:spcPts val="200"/>
              </a:spcBef>
            </a:pPr>
            <a:r>
              <a:rPr sz="1500" b="0">
                <a:solidFill>
                  <a:srgbClr val="000000"/>
                </a:solidFill>
              </a:rPr>
              <a:t>    –  QPE / Garp3 / DynaLearn (Bredeweg et al., University of Amsterdam)</a:t>
            </a:r>
          </a:p>
          <a:p>
            <a:pPr lvl="1">
              <a:spcBef>
                <a:spcPts val="200"/>
              </a:spcBef>
            </a:pPr>
            <a:r>
              <a:rPr sz="1500" b="0">
                <a:solidFill>
                  <a:srgbClr val="000000"/>
                </a:solidFill>
              </a:rPr>
              <a:t>    –  CogSketch (Forbus, Northwestern)</a:t>
            </a:r>
          </a:p>
          <a:p>
            <a:pPr lvl="1">
              <a:spcBef>
                <a:spcPts val="200"/>
              </a:spcBef>
            </a:pPr>
            <a:r>
              <a:rPr sz="1500" b="0">
                <a:solidFill>
                  <a:srgbClr val="000000"/>
                </a:solidFill>
              </a:rPr>
              <a:t>    –  NextKB / OpenCyc (Forbus, Northwestern)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Key QR Algorithms at a Glance</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Sign algebra propagation (1960s–1980s)</a:t>
            </a:r>
          </a:p>
          <a:p>
            <a:pPr lvl="1">
              <a:spcBef>
                <a:spcPts val="200"/>
              </a:spcBef>
            </a:pPr>
            <a:r>
              <a:rPr sz="1500" b="0">
                <a:solidFill>
                  <a:srgbClr val="000000"/>
                </a:solidFill>
              </a:rPr>
              <a:t>    –  Simple matrix operations; no temporal dimension</a:t>
            </a:r>
          </a:p>
          <a:p>
            <a:pPr>
              <a:spcBef>
                <a:spcPts val="400"/>
              </a:spcBef>
            </a:pPr>
            <a:r>
              <a:rPr sz="1700" b="1">
                <a:solidFill>
                  <a:srgbClr val="1A375E"/>
                </a:solidFill>
              </a:rPr>
              <a:t>•  QSIM (Kuipers 1986–2001)</a:t>
            </a:r>
          </a:p>
          <a:p>
            <a:pPr lvl="1">
              <a:spcBef>
                <a:spcPts val="200"/>
              </a:spcBef>
            </a:pPr>
            <a:r>
              <a:rPr sz="1500" b="0">
                <a:solidFill>
                  <a:srgbClr val="000000"/>
                </a:solidFill>
              </a:rPr>
              <a:t>    –  Globally consistent state generation; soundness guarantee; handles ambiguity</a:t>
            </a:r>
          </a:p>
          <a:p>
            <a:pPr lvl="1">
              <a:spcBef>
                <a:spcPts val="200"/>
              </a:spcBef>
            </a:pPr>
            <a:r>
              <a:rPr sz="1500" b="0">
                <a:solidFill>
                  <a:srgbClr val="000000"/>
                </a:solidFill>
              </a:rPr>
              <a:t>    –  Extended: Q2 (Kuipers et al.) — reduces spurious predictions</a:t>
            </a:r>
          </a:p>
          <a:p>
            <a:pPr>
              <a:spcBef>
                <a:spcPts val="400"/>
              </a:spcBef>
            </a:pPr>
            <a:r>
              <a:rPr sz="1700" b="1">
                <a:solidFill>
                  <a:srgbClr val="1A375E"/>
                </a:solidFill>
              </a:rPr>
              <a:t>•  QPT simulation (Forbus 1984–present)</a:t>
            </a:r>
          </a:p>
          <a:p>
            <a:pPr lvl="1">
              <a:spcBef>
                <a:spcPts val="200"/>
              </a:spcBef>
            </a:pPr>
            <a:r>
              <a:rPr sz="1500" b="0">
                <a:solidFill>
                  <a:srgbClr val="000000"/>
                </a:solidFill>
              </a:rPr>
              <a:t>    –  Process activation and deactivation; episodes with landmark crossings</a:t>
            </a:r>
          </a:p>
          <a:p>
            <a:pPr>
              <a:spcBef>
                <a:spcPts val="400"/>
              </a:spcBef>
            </a:pPr>
            <a:r>
              <a:rPr sz="1700" b="1">
                <a:solidFill>
                  <a:srgbClr val="1A375E"/>
                </a:solidFill>
              </a:rPr>
              <a:t>•  Compositional modeling / QSIM+ (Falkenhainer &amp; Forbus 1991)</a:t>
            </a:r>
          </a:p>
          <a:p>
            <a:pPr lvl="1">
              <a:spcBef>
                <a:spcPts val="200"/>
              </a:spcBef>
            </a:pPr>
            <a:r>
              <a:rPr sz="1500" b="0">
                <a:solidFill>
                  <a:srgbClr val="000000"/>
                </a:solidFill>
              </a:rPr>
              <a:t>    –  Model assembly from domain theory; modeling assumptions</a:t>
            </a:r>
          </a:p>
          <a:p>
            <a:pPr>
              <a:spcBef>
                <a:spcPts val="400"/>
              </a:spcBef>
            </a:pPr>
            <a:r>
              <a:rPr sz="1700" b="1">
                <a:solidFill>
                  <a:srgbClr val="1A375E"/>
                </a:solidFill>
              </a:rPr>
              <a:t>•  Qualitative causal modeling (de Kleer 1986)</a:t>
            </a:r>
          </a:p>
          <a:p>
            <a:pPr lvl="1">
              <a:spcBef>
                <a:spcPts val="200"/>
              </a:spcBef>
            </a:pPr>
            <a:r>
              <a:rPr sz="1500" b="0">
                <a:solidFill>
                  <a:srgbClr val="000000"/>
                </a:solidFill>
              </a:rPr>
              <a:t>    –  Causal ordering; device-level diagnosis (GDE algorithm)</a:t>
            </a:r>
          </a:p>
          <a:p>
            <a:pPr>
              <a:spcBef>
                <a:spcPts val="400"/>
              </a:spcBef>
            </a:pPr>
            <a:r>
              <a:rPr sz="1700" b="1">
                <a:solidFill>
                  <a:srgbClr val="1A375E"/>
                </a:solidFill>
              </a:rPr>
              <a:t>•  Order-of-magnitude reasoning (Mavrovouniotis 1988)</a:t>
            </a:r>
          </a:p>
          <a:p>
            <a:pPr lvl="1">
              <a:spcBef>
                <a:spcPts val="200"/>
              </a:spcBef>
            </a:pPr>
            <a:r>
              <a:rPr sz="1500" b="0">
                <a:solidFill>
                  <a:srgbClr val="000000"/>
                </a:solidFill>
              </a:rPr>
              <a:t>    –  Five levels: negligible ≪ comparable ≈ dominant; finer than sign algebra</a:t>
            </a:r>
          </a:p>
          <a:p>
            <a:pPr>
              <a:spcBef>
                <a:spcPts val="400"/>
              </a:spcBef>
            </a:pPr>
            <a:r>
              <a:rPr sz="1700" b="1">
                <a:solidFill>
                  <a:srgbClr val="1A375E"/>
                </a:solidFill>
              </a:rPr>
              <a:t>•  Constraint propagation in QR (Leler 1988; Dague et al. 1992)</a:t>
            </a:r>
          </a:p>
          <a:p>
            <a:pPr lvl="1">
              <a:spcBef>
                <a:spcPts val="200"/>
              </a:spcBef>
            </a:pPr>
            <a:r>
              <a:rPr sz="1500" b="0">
                <a:solidFill>
                  <a:srgbClr val="000000"/>
                </a:solidFill>
              </a:rPr>
              <a:t>    –  Arc-consistency for qualitative constraint networks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Real-World Applications: 1990s–2000s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Commercial deployment began in the early 1990s:</a:t>
            </a:r>
          </a:p>
          <a:p>
            <a:pPr>
              <a:spcBef>
                <a:spcPts val="400"/>
              </a:spcBef>
            </a:pPr>
            <a:r>
              <a:rPr sz="1700" b="1">
                <a:solidFill>
                  <a:srgbClr val="1A375E"/>
                </a:solidFill>
              </a:rPr>
              <a:t>•  Xerox DC-6090 photocopier (Hamscher, ~1990)</a:t>
            </a:r>
          </a:p>
          <a:p>
            <a:pPr lvl="1">
              <a:spcBef>
                <a:spcPts val="200"/>
              </a:spcBef>
            </a:pPr>
            <a:r>
              <a:rPr sz="1500" b="0">
                <a:solidFill>
                  <a:srgbClr val="000000"/>
                </a:solidFill>
              </a:rPr>
              <a:t>    –  QR-based fault isolation from symptom observations</a:t>
            </a:r>
          </a:p>
          <a:p>
            <a:pPr lvl="1">
              <a:spcBef>
                <a:spcPts val="200"/>
              </a:spcBef>
            </a:pPr>
            <a:r>
              <a:rPr sz="1500" b="0">
                <a:solidFill>
                  <a:srgbClr val="000000"/>
                </a:solidFill>
              </a:rPr>
              <a:t>    –  First large-scale commercial use of qualitative diagnosis</a:t>
            </a:r>
          </a:p>
          <a:p>
            <a:pPr>
              <a:spcBef>
                <a:spcPts val="400"/>
              </a:spcBef>
            </a:pPr>
            <a:r>
              <a:rPr sz="1700" b="1">
                <a:solidFill>
                  <a:srgbClr val="1A375E"/>
                </a:solidFill>
              </a:rPr>
              <a:t>•  Automotive FMEA — Mentor Graphics / Sherlock (~1995)</a:t>
            </a:r>
          </a:p>
          <a:p>
            <a:pPr lvl="1">
              <a:spcBef>
                <a:spcPts val="200"/>
              </a:spcBef>
            </a:pPr>
            <a:r>
              <a:rPr sz="1500" b="0">
                <a:solidFill>
                  <a:srgbClr val="000000"/>
                </a:solidFill>
              </a:rPr>
              <a:t>    –  Failure Mode and Effects Analysis for circuit boards</a:t>
            </a:r>
          </a:p>
          <a:p>
            <a:pPr lvl="1">
              <a:spcBef>
                <a:spcPts val="200"/>
              </a:spcBef>
            </a:pPr>
            <a:r>
              <a:rPr sz="1500" b="0">
                <a:solidFill>
                  <a:srgbClr val="000000"/>
                </a:solidFill>
              </a:rPr>
              <a:t>    –  Qualitative causal propagation of failure effects through designs</a:t>
            </a:r>
          </a:p>
          <a:p>
            <a:pPr>
              <a:spcBef>
                <a:spcPts val="400"/>
              </a:spcBef>
            </a:pPr>
            <a:r>
              <a:rPr sz="1700" b="1">
                <a:solidFill>
                  <a:srgbClr val="1A375E"/>
                </a:solidFill>
              </a:rPr>
              <a:t>•  NASA Deep Space One — Livingstone system (Williams &amp; Nayak, 1996)</a:t>
            </a:r>
          </a:p>
          <a:p>
            <a:pPr lvl="1">
              <a:spcBef>
                <a:spcPts val="200"/>
              </a:spcBef>
            </a:pPr>
            <a:r>
              <a:rPr sz="1500" b="0">
                <a:solidFill>
                  <a:srgbClr val="000000"/>
                </a:solidFill>
              </a:rPr>
              <a:t>    –  Model-based autonomous reconfiguration after fault detection</a:t>
            </a:r>
          </a:p>
          <a:p>
            <a:pPr lvl="1">
              <a:spcBef>
                <a:spcPts val="200"/>
              </a:spcBef>
            </a:pPr>
            <a:r>
              <a:rPr sz="1500" b="0">
                <a:solidFill>
                  <a:srgbClr val="000000"/>
                </a:solidFill>
              </a:rPr>
              <a:t>    –  Deployed on actual spacecraft: first AI-based autonomous spacecraft</a:t>
            </a:r>
          </a:p>
          <a:p>
            <a:pPr>
              <a:spcBef>
                <a:spcPts val="400"/>
              </a:spcBef>
            </a:pPr>
            <a:r>
              <a:rPr sz="1700" b="1">
                <a:solidFill>
                  <a:srgbClr val="1A375E"/>
                </a:solidFill>
              </a:rPr>
              <a:t>•  Process control and supervision (chemical plants, power systems)</a:t>
            </a:r>
          </a:p>
          <a:p>
            <a:pPr lvl="1">
              <a:spcBef>
                <a:spcPts val="200"/>
              </a:spcBef>
            </a:pPr>
            <a:r>
              <a:rPr sz="1500" b="0">
                <a:solidFill>
                  <a:srgbClr val="000000"/>
                </a:solidFill>
              </a:rPr>
              <a:t>    –  COGSIM, FALCON: qualitative models for supervisory control</a:t>
            </a:r>
          </a:p>
          <a:p>
            <a:pPr>
              <a:spcBef>
                <a:spcPts val="400"/>
              </a:spcBef>
            </a:pPr>
            <a:r>
              <a:rPr sz="1700" b="1">
                <a:solidFill>
                  <a:srgbClr val="1A375E"/>
                </a:solidFill>
              </a:rPr>
              <a:t>•  Water treatment decision support (Struss, QR 2023)</a:t>
            </a:r>
          </a:p>
          <a:p>
            <a:pPr lvl="1">
              <a:spcBef>
                <a:spcPts val="200"/>
              </a:spcBef>
            </a:pPr>
            <a:r>
              <a:rPr sz="1500" b="0">
                <a:solidFill>
                  <a:srgbClr val="000000"/>
                </a:solidFill>
              </a:rPr>
              <a:t>    –  QP model fragments for coagulation, filtration, sedimentation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Applications: Education and Cognitive Science</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DynaLearn / Garp3 (Bredeweg, University of Amsterdam — 2000s–present)</a:t>
            </a:r>
          </a:p>
          <a:p>
            <a:pPr lvl="1">
              <a:spcBef>
                <a:spcPts val="200"/>
              </a:spcBef>
            </a:pPr>
            <a:r>
              <a:rPr sz="1500" b="0">
                <a:solidFill>
                  <a:srgbClr val="000000"/>
                </a:solidFill>
              </a:rPr>
              <a:t>    –  Interactive qualitative modeling environment for students</a:t>
            </a:r>
          </a:p>
          <a:p>
            <a:pPr lvl="1">
              <a:spcBef>
                <a:spcPts val="200"/>
              </a:spcBef>
            </a:pPr>
            <a:r>
              <a:rPr sz="1500" b="0">
                <a:solidFill>
                  <a:srgbClr val="000000"/>
                </a:solidFill>
              </a:rPr>
              <a:t>    –  Students construct causal models, run simulations, explore scenarios</a:t>
            </a:r>
          </a:p>
          <a:p>
            <a:pPr lvl="1">
              <a:spcBef>
                <a:spcPts val="200"/>
              </a:spcBef>
            </a:pPr>
            <a:r>
              <a:rPr sz="1500" b="0">
                <a:solidFill>
                  <a:srgbClr val="000000"/>
                </a:solidFill>
              </a:rPr>
              <a:t>    –  Used for stellar physics, orbital motion, thermoregulation, photoelectric effect, global warming</a:t>
            </a:r>
          </a:p>
          <a:p>
            <a:pPr lvl="1">
              <a:spcBef>
                <a:spcPts val="200"/>
              </a:spcBef>
            </a:pPr>
            <a:r>
              <a:rPr sz="1500" b="0">
                <a:solidFill>
                  <a:srgbClr val="000000"/>
                </a:solidFill>
              </a:rPr>
              <a:t>    –  Deployed in secondary and higher education across Europe</a:t>
            </a:r>
          </a:p>
          <a:p>
            <a:pPr>
              <a:spcBef>
                <a:spcPts val="400"/>
              </a:spcBef>
            </a:pPr>
            <a:r>
              <a:rPr sz="1700" b="1">
                <a:solidFill>
                  <a:srgbClr val="1A375E"/>
                </a:solidFill>
              </a:rPr>
              <a:t>•  CogSketch (Forbus, Northwestern)</a:t>
            </a:r>
          </a:p>
          <a:p>
            <a:pPr lvl="1">
              <a:spcBef>
                <a:spcPts val="200"/>
              </a:spcBef>
            </a:pPr>
            <a:r>
              <a:rPr sz="1500" b="0">
                <a:solidFill>
                  <a:srgbClr val="000000"/>
                </a:solidFill>
              </a:rPr>
              <a:t>    –  Qualitative spatial reasoning over student-drawn diagrams</a:t>
            </a:r>
          </a:p>
          <a:p>
            <a:pPr lvl="1">
              <a:spcBef>
                <a:spcPts val="200"/>
              </a:spcBef>
            </a:pPr>
            <a:r>
              <a:rPr sz="1500" b="0">
                <a:solidFill>
                  <a:srgbClr val="000000"/>
                </a:solidFill>
              </a:rPr>
              <a:t>    –  Tutors physics problem-solving through diagrammatic QR</a:t>
            </a:r>
          </a:p>
          <a:p>
            <a:pPr>
              <a:spcBef>
                <a:spcPts val="400"/>
              </a:spcBef>
            </a:pPr>
            <a:r>
              <a:rPr sz="1700" b="1">
                <a:solidFill>
                  <a:srgbClr val="1A375E"/>
                </a:solidFill>
              </a:rPr>
              <a:t>•  Why QR for education?</a:t>
            </a:r>
          </a:p>
          <a:p>
            <a:pPr lvl="1">
              <a:spcBef>
                <a:spcPts val="200"/>
              </a:spcBef>
            </a:pPr>
            <a:r>
              <a:rPr sz="1500" b="0">
                <a:solidFill>
                  <a:srgbClr val="000000"/>
                </a:solidFill>
              </a:rPr>
              <a:t>    –  Causal models align with how students should think, not just numerical answers</a:t>
            </a:r>
          </a:p>
          <a:p>
            <a:pPr lvl="1">
              <a:spcBef>
                <a:spcPts val="200"/>
              </a:spcBef>
            </a:pPr>
            <a:r>
              <a:rPr sz="1500" b="0">
                <a:solidFill>
                  <a:srgbClr val="000000"/>
                </a:solidFill>
              </a:rPr>
              <a:t>    –  Incorrect model fragments reveal student misconceptions explicitly</a:t>
            </a:r>
          </a:p>
          <a:p>
            <a:pPr lvl="1">
              <a:spcBef>
                <a:spcPts val="200"/>
              </a:spcBef>
            </a:pPr>
            <a:r>
              <a:rPr sz="1500" b="0">
                <a:solidFill>
                  <a:srgbClr val="000000"/>
                </a:solidFill>
              </a:rPr>
              <a:t>    –  Model construction is itself the learning activity</a:t>
            </a:r>
          </a:p>
          <a:p>
            <a:pPr>
              <a:spcBef>
                <a:spcPts val="400"/>
              </a:spcBef>
            </a:pPr>
            <a:r>
              <a:rPr sz="1700" b="1">
                <a:solidFill>
                  <a:srgbClr val="1A375E"/>
                </a:solidFill>
              </a:rPr>
              <a:t>•  GarpN (Kragten et al., QR 2024): bridges qualitative and quantitative modeling</a:t>
            </a:r>
          </a:p>
          <a:p>
            <a:pPr lvl="1">
              <a:spcBef>
                <a:spcPts val="200"/>
              </a:spcBef>
            </a:pPr>
            <a:r>
              <a:rPr sz="1500" b="0">
                <a:solidFill>
                  <a:srgbClr val="000000"/>
                </a:solidFill>
              </a:rPr>
              <a:t>    –  Converts DynaLearn models to numerical simulations for comparison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20-Year Visions from QR 2006 (Price et al.)</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In 2006, the QR community articulated six grand challenge visions:</a:t>
            </a:r>
          </a:p>
          <a:p>
            <a:pPr>
              <a:spcBef>
                <a:spcPts val="400"/>
              </a:spcBef>
            </a:pPr>
            <a:r>
              <a:rPr sz="1700" b="1">
                <a:solidFill>
                  <a:srgbClr val="1A375E"/>
                </a:solidFill>
              </a:rPr>
              <a:t>•  Science-bot: autonomous scientific discovery using QR for hypothesis generation</a:t>
            </a:r>
          </a:p>
          <a:p>
            <a:pPr>
              <a:spcBef>
                <a:spcPts val="400"/>
              </a:spcBef>
            </a:pPr>
            <a:r>
              <a:rPr sz="1700" b="1">
                <a:solidFill>
                  <a:srgbClr val="1A375E"/>
                </a:solidFill>
              </a:rPr>
              <a:t>•  Virtual vehicle: comprehensive qualitative model of an entire automobile system</a:t>
            </a:r>
          </a:p>
          <a:p>
            <a:pPr>
              <a:spcBef>
                <a:spcPts val="400"/>
              </a:spcBef>
            </a:pPr>
            <a:r>
              <a:rPr sz="1700" b="1">
                <a:solidFill>
                  <a:srgbClr val="1A375E"/>
                </a:solidFill>
              </a:rPr>
              <a:t>•  Complex natural systems: QR models of ecological and climate systems at multiple scales</a:t>
            </a:r>
          </a:p>
          <a:p>
            <a:pPr>
              <a:spcBef>
                <a:spcPts val="400"/>
              </a:spcBef>
            </a:pPr>
            <a:r>
              <a:rPr sz="1700" b="1">
                <a:solidFill>
                  <a:srgbClr val="1A375E"/>
                </a:solidFill>
              </a:rPr>
              <a:t>•  4D medical monitoring: qualitative temporal abstraction of continuous physiological signals</a:t>
            </a:r>
          </a:p>
          <a:p>
            <a:pPr>
              <a:spcBef>
                <a:spcPts val="400"/>
              </a:spcBef>
            </a:pPr>
            <a:r>
              <a:rPr sz="1700" b="1">
                <a:solidFill>
                  <a:srgbClr val="1A375E"/>
                </a:solidFill>
              </a:rPr>
              <a:t>•  Autonomous problem solvers: AI that formulates, solves, and explains physical problems</a:t>
            </a:r>
          </a:p>
          <a:p>
            <a:pPr>
              <a:spcBef>
                <a:spcPts val="400"/>
              </a:spcBef>
            </a:pPr>
            <a:r>
              <a:rPr sz="1700" b="1">
                <a:solidFill>
                  <a:srgbClr val="1A375E"/>
                </a:solidFill>
              </a:rPr>
              <a:t>•  Encyclopedia of human mental models: QR formalization of naïve physics knowledge</a:t>
            </a:r>
          </a:p>
          <a:p>
            <a:pPr>
              <a:spcBef>
                <a:spcPts val="400"/>
              </a:spcBef>
            </a:pPr>
            <a:r>
              <a:rPr sz="1700" b="1">
                <a:solidFill>
                  <a:srgbClr val="1A375E"/>
                </a:solidFill>
              </a:rPr>
              <a:t>•  Technology gaps identified in 2006 still relevant today:</a:t>
            </a:r>
          </a:p>
          <a:p>
            <a:pPr lvl="1">
              <a:spcBef>
                <a:spcPts val="200"/>
              </a:spcBef>
            </a:pPr>
            <a:r>
              <a:rPr sz="1500" b="0">
                <a:solidFill>
                  <a:srgbClr val="000000"/>
                </a:solidFill>
              </a:rPr>
              <a:t>    –  Hybrid modeling: integrating qualitative and quantitative methods seamlessly</a:t>
            </a:r>
          </a:p>
          <a:p>
            <a:pPr lvl="1">
              <a:spcBef>
                <a:spcPts val="200"/>
              </a:spcBef>
            </a:pPr>
            <a:r>
              <a:rPr sz="1500" b="0">
                <a:solidFill>
                  <a:srgbClr val="000000"/>
                </a:solidFill>
              </a:rPr>
              <a:t>    –  Multi-level modeling: coherent models across scales of abstraction</a:t>
            </a:r>
          </a:p>
          <a:p>
            <a:pPr lvl="1">
              <a:spcBef>
                <a:spcPts val="200"/>
              </a:spcBef>
            </a:pPr>
            <a:r>
              <a:rPr sz="1500" b="0">
                <a:solidFill>
                  <a:srgbClr val="000000"/>
                </a:solidFill>
              </a:rPr>
              <a:t>    –  Automated model generation: reducing the knowledge engineering bottleneck</a:t>
            </a:r>
          </a:p>
          <a:p>
            <a:pPr>
              <a:spcBef>
                <a:spcPts val="400"/>
              </a:spcBef>
            </a:pPr>
            <a:r>
              <a:rPr sz="1700" b="1">
                <a:solidFill>
                  <a:srgbClr val="1A375E"/>
                </a:solidFill>
              </a:rPr>
              <a:t>•  Reflection: LLMs now address part of 'automated model generation' — but introduce new challenges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5E9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280160"/>
          </a:xfrm>
          <a:prstGeom prst="rect">
            <a:avLst/>
          </a:prstGeom>
          <a:noFill/>
        </p:spPr>
        <p:txBody>
          <a:bodyPr wrap="square">
            <a:spAutoFit/>
          </a:bodyPr>
          <a:lstStyle/>
          <a:p>
            <a:pPr algn="l"/>
            <a:r>
              <a:rPr sz="3600" b="1" i="0">
                <a:solidFill>
                  <a:srgbClr val="FFFFFF"/>
                </a:solidFill>
              </a:rPr>
              <a:t>Part 4 — LLMs Meet Qualitative Reasoning (2023–2025)</a:t>
            </a:r>
          </a:p>
        </p:txBody>
      </p:sp>
      <p:sp>
        <p:nvSpPr>
          <p:cNvPr id="4" name="TextBox 3"/>
          <p:cNvSpPr txBox="1"/>
          <p:nvPr/>
        </p:nvSpPr>
        <p:spPr>
          <a:xfrm>
            <a:off x="731520" y="3749039"/>
            <a:ext cx="10698480" cy="914400"/>
          </a:xfrm>
          <a:prstGeom prst="rect">
            <a:avLst/>
          </a:prstGeom>
          <a:noFill/>
        </p:spPr>
        <p:txBody>
          <a:bodyPr wrap="square">
            <a:spAutoFit/>
          </a:bodyPr>
          <a:lstStyle/>
          <a:p>
            <a:pPr algn="l"/>
            <a:r>
              <a:rPr sz="2000" b="0" i="0">
                <a:solidFill>
                  <a:srgbClr val="D6E4F7"/>
                </a:solidFill>
              </a:rPr>
              <a:t>Benchmarks, hybrid architectures, and open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LLM Revolution Reaches QR</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GPT-4 (2023) performed impressively on many reasoning benchmarks — but what about QR?</a:t>
            </a:r>
          </a:p>
          <a:p>
            <a:pPr>
              <a:spcBef>
                <a:spcPts val="400"/>
              </a:spcBef>
            </a:pPr>
            <a:r>
              <a:rPr sz="1700" b="1">
                <a:solidFill>
                  <a:srgbClr val="1A375E"/>
                </a:solidFill>
              </a:rPr>
              <a:t>•  The QR community started asking three questions:</a:t>
            </a:r>
          </a:p>
          <a:p>
            <a:pPr lvl="1">
              <a:spcBef>
                <a:spcPts val="200"/>
              </a:spcBef>
            </a:pPr>
            <a:r>
              <a:rPr sz="1500" b="0">
                <a:solidFill>
                  <a:srgbClr val="000000"/>
                </a:solidFill>
              </a:rPr>
              <a:t>    –  Can LLMs perform formal qualitative spatial / causal reasoning?</a:t>
            </a:r>
          </a:p>
          <a:p>
            <a:pPr lvl="1">
              <a:spcBef>
                <a:spcPts val="200"/>
              </a:spcBef>
            </a:pPr>
            <a:r>
              <a:rPr sz="1500" b="0">
                <a:solidFill>
                  <a:srgbClr val="000000"/>
                </a:solidFill>
              </a:rPr>
              <a:t>    –  Can LLMs assist in building qualitative models (reducing KE bottleneck)?</a:t>
            </a:r>
          </a:p>
          <a:p>
            <a:pPr lvl="1">
              <a:spcBef>
                <a:spcPts val="200"/>
              </a:spcBef>
            </a:pPr>
            <a:r>
              <a:rPr sz="1500" b="0">
                <a:solidFill>
                  <a:srgbClr val="000000"/>
                </a:solidFill>
              </a:rPr>
              <a:t>    –  Should LLMs replace formal QR representations entirely?</a:t>
            </a:r>
          </a:p>
          <a:p>
            <a:pPr>
              <a:spcBef>
                <a:spcPts val="400"/>
              </a:spcBef>
            </a:pPr>
            <a:r>
              <a:rPr sz="1700" b="1">
                <a:solidFill>
                  <a:srgbClr val="1A375E"/>
                </a:solidFill>
              </a:rPr>
              <a:t>•  Three years of QR workshops (2023, 2024, 2025) provide a systematic answer</a:t>
            </a:r>
          </a:p>
          <a:p>
            <a:pPr>
              <a:spcBef>
                <a:spcPts val="400"/>
              </a:spcBef>
            </a:pPr>
            <a:r>
              <a:rPr sz="1700" b="1">
                <a:solidFill>
                  <a:srgbClr val="1A375E"/>
                </a:solidFill>
              </a:rPr>
              <a:t>•  Summary verdict so far:</a:t>
            </a:r>
          </a:p>
          <a:p>
            <a:pPr lvl="1">
              <a:spcBef>
                <a:spcPts val="200"/>
              </a:spcBef>
            </a:pPr>
            <a:r>
              <a:rPr sz="1500" b="0">
                <a:solidFill>
                  <a:srgbClr val="000000"/>
                </a:solidFill>
              </a:rPr>
              <a:t>    –  LLMs are useful front-ends (natural language → structure)</a:t>
            </a:r>
          </a:p>
          <a:p>
            <a:pPr lvl="1">
              <a:spcBef>
                <a:spcPts val="200"/>
              </a:spcBef>
            </a:pPr>
            <a:r>
              <a:rPr sz="1500" b="0">
                <a:solidFill>
                  <a:srgbClr val="000000"/>
                </a:solidFill>
              </a:rPr>
              <a:t>    –  LLMs fail at formal QR reasoning without symbolic support</a:t>
            </a:r>
          </a:p>
          <a:p>
            <a:pPr lvl="1">
              <a:spcBef>
                <a:spcPts val="200"/>
              </a:spcBef>
            </a:pPr>
            <a:r>
              <a:rPr sz="1500" b="0">
                <a:solidFill>
                  <a:srgbClr val="000000"/>
                </a:solidFill>
              </a:rPr>
              <a:t>    –  Large Reasoning Models (LRMs: o1, o3) dramatically close the gap on benchmarks</a:t>
            </a:r>
          </a:p>
          <a:p>
            <a:pPr lvl="1">
              <a:spcBef>
                <a:spcPts val="200"/>
              </a:spcBef>
            </a:pPr>
            <a:r>
              <a:rPr sz="1500" b="0">
                <a:solidFill>
                  <a:srgbClr val="000000"/>
                </a:solidFill>
              </a:rPr>
              <a:t>    –  Hybrid neuro-symbolic architectures consistently outperform pure LLM approaches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QR 2023: First Systematic Evaluations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3 of 15 papers engaged directly with LLMs (12 papers: classical QR methods only)</a:t>
            </a:r>
          </a:p>
          <a:p>
            <a:pPr>
              <a:spcBef>
                <a:spcPts val="400"/>
              </a:spcBef>
            </a:pPr>
            <a:r>
              <a:rPr sz="1700" b="1">
                <a:solidFill>
                  <a:srgbClr val="1A375E"/>
                </a:solidFill>
              </a:rPr>
              <a:t>•  Paper 07 — Cohn (U Leeds): ChatGPT-4 on RCC-8 spatial reasoning</a:t>
            </a:r>
          </a:p>
          <a:p>
            <a:pPr lvl="1">
              <a:spcBef>
                <a:spcPts val="200"/>
              </a:spcBef>
            </a:pPr>
            <a:r>
              <a:rPr sz="1500" b="0">
                <a:solidFill>
                  <a:srgbClr val="000000"/>
                </a:solidFill>
              </a:rPr>
              <a:t>    –  Composition table queries: 71.94% accuracy</a:t>
            </a:r>
          </a:p>
          <a:p>
            <a:pPr lvl="1">
              <a:spcBef>
                <a:spcPts val="200"/>
              </a:spcBef>
            </a:pPr>
            <a:r>
              <a:rPr sz="1500" b="0">
                <a:solidFill>
                  <a:srgbClr val="000000"/>
                </a:solidFill>
              </a:rPr>
              <a:t>    –  Preferred compositions (requires geometric judgment): 40.82% accuracy</a:t>
            </a:r>
          </a:p>
          <a:p>
            <a:pPr lvl="1">
              <a:spcBef>
                <a:spcPts val="200"/>
              </a:spcBef>
            </a:pPr>
            <a:r>
              <a:rPr sz="1500" b="0">
                <a:solidFill>
                  <a:srgbClr val="000000"/>
                </a:solidFill>
              </a:rPr>
              <a:t>    –  Conceptual neighborhood (recognition): ~90% accuracy</a:t>
            </a:r>
          </a:p>
          <a:p>
            <a:pPr lvl="1">
              <a:spcBef>
                <a:spcPts val="200"/>
              </a:spcBef>
            </a:pPr>
            <a:r>
              <a:rPr sz="1500" b="0">
                <a:solidFill>
                  <a:srgbClr val="000000"/>
                </a:solidFill>
              </a:rPr>
              <a:t>    –  Systematic failures on transitive composition chains — genuine spatial inference, not pattern matching</a:t>
            </a:r>
          </a:p>
          <a:p>
            <a:pPr>
              <a:spcBef>
                <a:spcPts val="400"/>
              </a:spcBef>
            </a:pPr>
            <a:r>
              <a:rPr sz="1700" b="1">
                <a:solidFill>
                  <a:srgbClr val="1A375E"/>
                </a:solidFill>
              </a:rPr>
              <a:t>•  Paper 13 — Maxwell et al. (PARC/SRI): LLMs as physical system topology generator</a:t>
            </a:r>
          </a:p>
          <a:p>
            <a:pPr lvl="1">
              <a:spcBef>
                <a:spcPts val="200"/>
              </a:spcBef>
            </a:pPr>
            <a:r>
              <a:rPr sz="1500" b="0">
                <a:solidFill>
                  <a:srgbClr val="000000"/>
                </a:solidFill>
              </a:rPr>
              <a:t>    –  ChatGPT proposes Modelica component connection topologies from NL descriptions</a:t>
            </a:r>
          </a:p>
          <a:p>
            <a:pPr lvl="1">
              <a:spcBef>
                <a:spcPts val="200"/>
              </a:spcBef>
            </a:pPr>
            <a:r>
              <a:rPr sz="1500" b="0">
                <a:solidFill>
                  <a:srgbClr val="000000"/>
                </a:solidFill>
              </a:rPr>
              <a:t>    –  'Sloppy but general': approximately correct far more often than random</a:t>
            </a:r>
          </a:p>
          <a:p>
            <a:pPr lvl="1">
              <a:spcBef>
                <a:spcPts val="200"/>
              </a:spcBef>
            </a:pPr>
            <a:r>
              <a:rPr sz="1500" b="0">
                <a:solidFill>
                  <a:srgbClr val="000000"/>
                </a:solidFill>
              </a:rPr>
              <a:t>    –  Qualitative simulation used as repair oracle: diagnoses missing components by behavior mismatch</a:t>
            </a:r>
          </a:p>
          <a:p>
            <a:pPr>
              <a:spcBef>
                <a:spcPts val="400"/>
              </a:spcBef>
            </a:pPr>
            <a:r>
              <a:rPr sz="1700" b="1">
                <a:solidFill>
                  <a:srgbClr val="1A375E"/>
                </a:solidFill>
              </a:rPr>
              <a:t>•  Paper 14 — Forbus (Northwestern): Explicit rejection of LLMs as QR knowledge bases</a:t>
            </a:r>
          </a:p>
          <a:p>
            <a:pPr lvl="1">
              <a:spcBef>
                <a:spcPts val="200"/>
              </a:spcBef>
            </a:pPr>
            <a:r>
              <a:rPr sz="1500" b="0">
                <a:solidFill>
                  <a:srgbClr val="000000"/>
                </a:solidFill>
              </a:rPr>
              <a:t>    –  'LLMs make poor knowledge bases: not grounded; optimizing for plausibility, not correctness'</a:t>
            </a:r>
          </a:p>
          <a:p>
            <a:pPr lvl="1">
              <a:spcBef>
                <a:spcPts val="200"/>
              </a:spcBef>
            </a:pPr>
            <a:r>
              <a:rPr sz="1500" b="0">
                <a:solidFill>
                  <a:srgbClr val="000000"/>
                </a:solidFill>
              </a:rPr>
              <a:t>    –  Proposes ontology-anchored QP theory as the alternative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375E"/>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Case Against LLMs as QR Knowledge Bases</a:t>
            </a:r>
          </a:p>
        </p:txBody>
      </p:sp>
      <p:sp>
        <p:nvSpPr>
          <p:cNvPr id="4" name="TextBox 3"/>
          <p:cNvSpPr txBox="1"/>
          <p:nvPr/>
        </p:nvSpPr>
        <p:spPr>
          <a:xfrm>
            <a:off x="274320" y="1005840"/>
            <a:ext cx="1371600" cy="1828800"/>
          </a:xfrm>
          <a:prstGeom prst="rect">
            <a:avLst/>
          </a:prstGeom>
          <a:noFill/>
        </p:spPr>
        <p:txBody>
          <a:bodyPr wrap="square">
            <a:spAutoFit/>
          </a:bodyPr>
          <a:lstStyle/>
          <a:p>
            <a:pPr algn="l"/>
            <a:r>
              <a:rPr sz="12000" b="1" i="0">
                <a:solidFill>
                  <a:srgbClr val="4A7AC0"/>
                </a:solidFill>
              </a:rPr>
              <a:t>“</a:t>
            </a:r>
          </a:p>
        </p:txBody>
      </p:sp>
      <p:sp>
        <p:nvSpPr>
          <p:cNvPr id="5" name="TextBox 4"/>
          <p:cNvSpPr txBox="1"/>
          <p:nvPr/>
        </p:nvSpPr>
        <p:spPr>
          <a:xfrm>
            <a:off x="1097280" y="1645920"/>
            <a:ext cx="9875520" cy="3657600"/>
          </a:xfrm>
          <a:prstGeom prst="rect">
            <a:avLst/>
          </a:prstGeom>
          <a:noFill/>
        </p:spPr>
        <p:txBody>
          <a:bodyPr wrap="square">
            <a:spAutoFit/>
          </a:bodyPr>
          <a:lstStyle/>
          <a:p>
            <a:pPr algn="l"/>
            <a:r>
              <a:rPr sz="2000" b="0" i="1">
                <a:solidFill>
                  <a:srgbClr val="FFFFFF"/>
                </a:solidFill>
              </a:rPr>
              <a:t>LLMs make poor knowledge bases for two reasons. First, their exposure to language is not grounded in the everyday world. Second, their success criterion is generating statistically plausible text, not correct reasoning. As the confabulation problems with LLMs show, these are at best only correlated.</a:t>
            </a:r>
          </a:p>
        </p:txBody>
      </p:sp>
      <p:sp>
        <p:nvSpPr>
          <p:cNvPr id="6" name="TextBox 5"/>
          <p:cNvSpPr txBox="1"/>
          <p:nvPr/>
        </p:nvSpPr>
        <p:spPr>
          <a:xfrm>
            <a:off x="1097280" y="5394960"/>
            <a:ext cx="9875520" cy="640080"/>
          </a:xfrm>
          <a:prstGeom prst="rect">
            <a:avLst/>
          </a:prstGeom>
          <a:noFill/>
        </p:spPr>
        <p:txBody>
          <a:bodyPr wrap="square">
            <a:spAutoFit/>
          </a:bodyPr>
          <a:lstStyle/>
          <a:p>
            <a:pPr algn="r"/>
            <a:r>
              <a:rPr sz="1600" b="0" i="0">
                <a:solidFill>
                  <a:srgbClr val="D6E4F7"/>
                </a:solidFill>
              </a:rPr>
              <a:t>— Kenneth Forbus, QR 2023 (Paper 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QR 2024: LLMs as Pipeline Components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2 of 9 papers engaged with LLMs/foundation models (7 papers: classical QR methods)</a:t>
            </a:r>
          </a:p>
          <a:p>
            <a:pPr>
              <a:spcBef>
                <a:spcPts val="400"/>
              </a:spcBef>
            </a:pPr>
            <a:r>
              <a:rPr sz="1700" b="1">
                <a:solidFill>
                  <a:srgbClr val="1A375E"/>
                </a:solidFill>
              </a:rPr>
              <a:t>•  Paper 3 — Suzuki &amp; Yoshioka (Tohoku): GPT-4 as NL retriever for QP model construction</a:t>
            </a:r>
          </a:p>
          <a:p>
            <a:pPr lvl="1">
              <a:spcBef>
                <a:spcPts val="200"/>
              </a:spcBef>
            </a:pPr>
            <a:r>
              <a:rPr sz="1500" b="0">
                <a:solidFill>
                  <a:srgbClr val="000000"/>
                </a:solidFill>
              </a:rPr>
              <a:t>    –  Pipeline: NL problem text → GPT-4 → physical objects + processes → QPT database lookup → QPT simulator</a:t>
            </a:r>
          </a:p>
          <a:p>
            <a:pPr lvl="1">
              <a:spcBef>
                <a:spcPts val="200"/>
              </a:spcBef>
            </a:pPr>
            <a:r>
              <a:rPr sz="1500" b="0">
                <a:solidFill>
                  <a:srgbClr val="000000"/>
                </a:solidFill>
              </a:rPr>
              <a:t>    –  LLM identifies what is involved; symbolic QPT does the reasoning</a:t>
            </a:r>
          </a:p>
          <a:p>
            <a:pPr lvl="1">
              <a:spcBef>
                <a:spcPts val="200"/>
              </a:spcBef>
            </a:pPr>
            <a:r>
              <a:rPr sz="1500" b="0">
                <a:solidFill>
                  <a:srgbClr val="000000"/>
                </a:solidFill>
              </a:rPr>
              <a:t>    –  Evaluated on introductory physics (heat flow, fluid dynamics, projectile motion)</a:t>
            </a:r>
          </a:p>
          <a:p>
            <a:pPr lvl="1">
              <a:spcBef>
                <a:spcPts val="200"/>
              </a:spcBef>
            </a:pPr>
            <a:r>
              <a:rPr sz="1500" b="0">
                <a:solidFill>
                  <a:srgbClr val="000000"/>
                </a:solidFill>
              </a:rPr>
              <a:t>    –  Key insight: LLMs have physical commonsense breadth; QPT has formal precision</a:t>
            </a:r>
          </a:p>
          <a:p>
            <a:pPr>
              <a:spcBef>
                <a:spcPts val="400"/>
              </a:spcBef>
            </a:pPr>
            <a:r>
              <a:rPr sz="1700" b="1">
                <a:solidFill>
                  <a:srgbClr val="1A375E"/>
                </a:solidFill>
              </a:rPr>
              <a:t>•  Paper 9 — Keser et al. (Lübeck/Stockholm): CLIP analyzed for ontological commitments</a:t>
            </a:r>
          </a:p>
          <a:p>
            <a:pPr lvl="1">
              <a:spcBef>
                <a:spcPts val="200"/>
              </a:spcBef>
            </a:pPr>
            <a:r>
              <a:rPr sz="1500" b="0">
                <a:solidFill>
                  <a:srgbClr val="000000"/>
                </a:solidFill>
              </a:rPr>
              <a:t>    –  Studies what ontological categories CLIP implicitly encodes in its embedding space</a:t>
            </a:r>
          </a:p>
          <a:p>
            <a:pPr lvl="1">
              <a:spcBef>
                <a:spcPts val="200"/>
              </a:spcBef>
            </a:pPr>
            <a:r>
              <a:rPr sz="1500" b="0">
                <a:solidFill>
                  <a:srgbClr val="000000"/>
                </a:solidFill>
              </a:rPr>
              <a:t>    –  Hierarchical clustering over structured image sets vs. WordNet, part-whole hierarchies</a:t>
            </a:r>
          </a:p>
          <a:p>
            <a:pPr lvl="1">
              <a:spcBef>
                <a:spcPts val="200"/>
              </a:spcBef>
            </a:pPr>
            <a:r>
              <a:rPr sz="1500" b="0">
                <a:solidFill>
                  <a:srgbClr val="000000"/>
                </a:solidFill>
              </a:rPr>
              <a:t>    –  CLIP reliably encodes basic-level categories; inconsistent on abstract properties and part-whole</a:t>
            </a:r>
          </a:p>
          <a:p>
            <a:pPr lvl="1">
              <a:spcBef>
                <a:spcPts val="200"/>
              </a:spcBef>
            </a:pPr>
            <a:r>
              <a:rPr sz="1500" b="0">
                <a:solidFill>
                  <a:srgbClr val="000000"/>
                </a:solidFill>
              </a:rPr>
              <a:t>    –  Opens research direction: QR ontological analysis tools applied to foundation models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QR 2025: Rapid Acceleration</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6 of 10 papers engage LLMs or foundation models — a dramatic shift from 2023</a:t>
            </a:r>
          </a:p>
          <a:p>
            <a:pPr>
              <a:spcBef>
                <a:spcPts val="400"/>
              </a:spcBef>
            </a:pPr>
            <a:r>
              <a:rPr sz="1700" b="1">
                <a:solidFill>
                  <a:srgbClr val="1A375E"/>
                </a:solidFill>
              </a:rPr>
              <a:t>•  Three roles identified:</a:t>
            </a:r>
          </a:p>
          <a:p>
            <a:pPr lvl="1">
              <a:spcBef>
                <a:spcPts val="200"/>
              </a:spcBef>
            </a:pPr>
            <a:r>
              <a:rPr sz="1500" b="0">
                <a:solidFill>
                  <a:srgbClr val="000000"/>
                </a:solidFill>
              </a:rPr>
              <a:t>    –  Reasoning engines: LLMs evaluated on QR tasks directly (papers 0004, 0007, 0008)</a:t>
            </a:r>
          </a:p>
          <a:p>
            <a:pPr lvl="1">
              <a:spcBef>
                <a:spcPts val="200"/>
              </a:spcBef>
            </a:pPr>
            <a:r>
              <a:rPr sz="1500" b="0">
                <a:solidFill>
                  <a:srgbClr val="000000"/>
                </a:solidFill>
              </a:rPr>
              <a:t>    –  Translators/retrievers: LLMs as NL → formal structure front-ends (papers 0001, 0010)</a:t>
            </a:r>
          </a:p>
          <a:p>
            <a:pPr lvl="1">
              <a:spcBef>
                <a:spcPts val="200"/>
              </a:spcBef>
            </a:pPr>
            <a:r>
              <a:rPr sz="1500" b="0">
                <a:solidFill>
                  <a:srgbClr val="000000"/>
                </a:solidFill>
              </a:rPr>
              <a:t>    –  Modeled agents: LLMs as subjects of study in qualitative frameworks (paper 0005)</a:t>
            </a:r>
          </a:p>
          <a:p>
            <a:pPr>
              <a:spcBef>
                <a:spcPts val="400"/>
              </a:spcBef>
            </a:pPr>
            <a:r>
              <a:rPr sz="1700" b="1">
                <a:solidFill>
                  <a:srgbClr val="1A375E"/>
                </a:solidFill>
              </a:rPr>
              <a:t>•  Large Reasoning Models (o1, o3) show dramatic improvements:</a:t>
            </a:r>
          </a:p>
          <a:p>
            <a:pPr lvl="1">
              <a:spcBef>
                <a:spcPts val="200"/>
              </a:spcBef>
            </a:pPr>
            <a:r>
              <a:rPr sz="1500" b="0">
                <a:solidFill>
                  <a:srgbClr val="000000"/>
                </a:solidFill>
              </a:rPr>
              <a:t>    –  Chain-of-thought at inference time; not just pattern matching</a:t>
            </a:r>
          </a:p>
          <a:p>
            <a:pPr lvl="1">
              <a:spcBef>
                <a:spcPts val="200"/>
              </a:spcBef>
            </a:pPr>
            <a:r>
              <a:rPr sz="1500" b="0">
                <a:solidFill>
                  <a:srgbClr val="000000"/>
                </a:solidFill>
              </a:rPr>
              <a:t>    –  Best result: o1 achieves 0.92 accuracy on spatial QR benchmark (vs. GPT-4's 0.72)</a:t>
            </a:r>
          </a:p>
          <a:p>
            <a:pPr>
              <a:spcBef>
                <a:spcPts val="400"/>
              </a:spcBef>
            </a:pPr>
            <a:r>
              <a:rPr sz="1700" b="1">
                <a:solidFill>
                  <a:srgbClr val="1A375E"/>
                </a:solidFill>
              </a:rPr>
              <a:t>•  New concern: epistemic alignment</a:t>
            </a:r>
          </a:p>
          <a:p>
            <a:pPr lvl="1">
              <a:spcBef>
                <a:spcPts val="200"/>
              </a:spcBef>
            </a:pPr>
            <a:r>
              <a:rPr sz="1500" b="0">
                <a:solidFill>
                  <a:srgbClr val="000000"/>
                </a:solidFill>
              </a:rPr>
              <a:t>    –  Behavioral alignment (doing the right thing) may be insufficient</a:t>
            </a:r>
          </a:p>
          <a:p>
            <a:pPr lvl="1">
              <a:spcBef>
                <a:spcPts val="200"/>
              </a:spcBef>
            </a:pPr>
            <a:r>
              <a:rPr sz="1500" b="0">
                <a:solidFill>
                  <a:srgbClr val="000000"/>
                </a:solidFill>
              </a:rPr>
              <a:t>    –  We may also need agents that reason correctly about what they know and don't know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QR 2025: Key Papers in Detail</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Paper 0001 (Forbus, Northwestern): NL input + QP model library → hybrid QR system</a:t>
            </a:r>
          </a:p>
          <a:p>
            <a:pPr lvl="1">
              <a:spcBef>
                <a:spcPts val="200"/>
              </a:spcBef>
            </a:pPr>
            <a:r>
              <a:rPr sz="1500" b="0">
                <a:solidFill>
                  <a:srgbClr val="000000"/>
                </a:solidFill>
              </a:rPr>
              <a:t>    –  Forbus acknowledges LLMs as useful NL → QPT translators while maintaining formal QP core</a:t>
            </a:r>
          </a:p>
          <a:p>
            <a:pPr>
              <a:spcBef>
                <a:spcPts val="400"/>
              </a:spcBef>
            </a:pPr>
            <a:r>
              <a:rPr sz="1700" b="1">
                <a:solidFill>
                  <a:srgbClr val="1A375E"/>
                </a:solidFill>
              </a:rPr>
              <a:t>•  Paper 0004 (Ansah et al.): VLMs on mechanical comprehension (gear/pulley puzzles)</a:t>
            </a:r>
          </a:p>
          <a:p>
            <a:pPr lvl="1">
              <a:spcBef>
                <a:spcPts val="200"/>
              </a:spcBef>
            </a:pPr>
            <a:r>
              <a:rPr sz="1500" b="0">
                <a:solidFill>
                  <a:srgbClr val="000000"/>
                </a:solidFill>
              </a:rPr>
              <a:t>    –  GPT-4V and similar models evaluated; most fail systematic compositional reasoning</a:t>
            </a:r>
          </a:p>
          <a:p>
            <a:pPr>
              <a:spcBef>
                <a:spcPts val="400"/>
              </a:spcBef>
            </a:pPr>
            <a:r>
              <a:rPr sz="1700" b="1">
                <a:solidFill>
                  <a:srgbClr val="1A375E"/>
                </a:solidFill>
              </a:rPr>
              <a:t>•  Paper 0007 (Cohn &amp; Blackwell): 28 LLMs benchmarked on spatial reasoning</a:t>
            </a:r>
          </a:p>
          <a:p>
            <a:pPr lvl="1">
              <a:spcBef>
                <a:spcPts val="200"/>
              </a:spcBef>
            </a:pPr>
            <a:r>
              <a:rPr sz="1500" b="0">
                <a:solidFill>
                  <a:srgbClr val="000000"/>
                </a:solidFill>
              </a:rPr>
              <a:t>    –  Largest systematic comparison to date; LRMs (o1, o3) dominate</a:t>
            </a:r>
          </a:p>
          <a:p>
            <a:pPr lvl="1">
              <a:spcBef>
                <a:spcPts val="200"/>
              </a:spcBef>
            </a:pPr>
            <a:r>
              <a:rPr sz="1500" b="0">
                <a:solidFill>
                  <a:srgbClr val="000000"/>
                </a:solidFill>
              </a:rPr>
              <a:t>    –  Smaller models fail qualitatively differently from larger ones</a:t>
            </a:r>
          </a:p>
          <a:p>
            <a:pPr>
              <a:spcBef>
                <a:spcPts val="400"/>
              </a:spcBef>
            </a:pPr>
            <a:r>
              <a:rPr sz="1700" b="1">
                <a:solidFill>
                  <a:srgbClr val="1A375E"/>
                </a:solidFill>
              </a:rPr>
              <a:t>•  Paper 0008 (Peng &amp; Lai): Multi-agent QR with LLM supervision</a:t>
            </a:r>
          </a:p>
          <a:p>
            <a:pPr lvl="1">
              <a:spcBef>
                <a:spcPts val="200"/>
              </a:spcBef>
            </a:pPr>
            <a:r>
              <a:rPr sz="1500" b="0">
                <a:solidFill>
                  <a:srgbClr val="000000"/>
                </a:solidFill>
              </a:rPr>
              <a:t>    –  LLM coordinates multi-agent qualitative simulation; qualitative feedback improves LLM decisions</a:t>
            </a:r>
          </a:p>
          <a:p>
            <a:pPr>
              <a:spcBef>
                <a:spcPts val="400"/>
              </a:spcBef>
            </a:pPr>
            <a:r>
              <a:rPr sz="1700" b="1">
                <a:solidFill>
                  <a:srgbClr val="1A375E"/>
                </a:solidFill>
              </a:rPr>
              <a:t>•  Paper 0005 (Liza): Epistemic alignment for LLM-based AI systems</a:t>
            </a:r>
          </a:p>
          <a:p>
            <a:pPr lvl="1">
              <a:spcBef>
                <a:spcPts val="200"/>
              </a:spcBef>
            </a:pPr>
            <a:r>
              <a:rPr sz="1500" b="0">
                <a:solidFill>
                  <a:srgbClr val="000000"/>
                </a:solidFill>
              </a:rPr>
              <a:t>    –  QR framework for evaluating whether LLM agents know what they don't know</a:t>
            </a:r>
          </a:p>
          <a:p>
            <a:pPr>
              <a:spcBef>
                <a:spcPts val="400"/>
              </a:spcBef>
            </a:pPr>
            <a:r>
              <a:rPr sz="1700" b="1">
                <a:solidFill>
                  <a:srgbClr val="1A375E"/>
                </a:solidFill>
              </a:rPr>
              <a:t>•  Paper 0010 (Suzuki et al.): Extended LLM-QPT pipeline</a:t>
            </a:r>
          </a:p>
          <a:p>
            <a:pPr lvl="1">
              <a:spcBef>
                <a:spcPts val="200"/>
              </a:spcBef>
            </a:pPr>
            <a:r>
              <a:rPr sz="1500" b="0">
                <a:solidFill>
                  <a:srgbClr val="000000"/>
                </a:solidFill>
              </a:rPr>
              <a:t>    –  Follow-up to QR2024 paper 3 — broader coverage, more evaluation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Consistent Pattern: Hybrid Neuro-Symbolic Architectures</a:t>
            </a:r>
          </a:p>
        </p:txBody>
      </p:sp>
      <p:sp>
        <p:nvSpPr>
          <p:cNvPr id="4" name="Rectangle 3"/>
          <p:cNvSpPr/>
          <p:nvPr/>
        </p:nvSpPr>
        <p:spPr>
          <a:xfrm>
            <a:off x="274320" y="1188720"/>
            <a:ext cx="5577840" cy="384048"/>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25296"/>
            <a:ext cx="5394960" cy="347472"/>
          </a:xfrm>
          <a:prstGeom prst="rect">
            <a:avLst/>
          </a:prstGeom>
          <a:noFill/>
        </p:spPr>
        <p:txBody>
          <a:bodyPr wrap="square">
            <a:spAutoFit/>
          </a:bodyPr>
          <a:lstStyle/>
          <a:p>
            <a:pPr algn="l"/>
            <a:r>
              <a:rPr sz="1600" b="1" i="0">
                <a:solidFill>
                  <a:srgbClr val="FFFFFF"/>
                </a:solidFill>
              </a:rPr>
              <a:t>What LLMs do well in QR</a:t>
            </a:r>
          </a:p>
        </p:txBody>
      </p:sp>
      <p:sp>
        <p:nvSpPr>
          <p:cNvPr id="6" name="TextBox 5"/>
          <p:cNvSpPr txBox="1"/>
          <p:nvPr/>
        </p:nvSpPr>
        <p:spPr>
          <a:xfrm>
            <a:off x="365760" y="1664208"/>
            <a:ext cx="5394960" cy="4828032"/>
          </a:xfrm>
          <a:prstGeom prst="rect">
            <a:avLst/>
          </a:prstGeom>
          <a:noFill/>
        </p:spPr>
        <p:txBody>
          <a:bodyPr wrap="square">
            <a:spAutoFit/>
          </a:bodyPr>
          <a:lstStyle/>
          <a:p>
            <a:pPr>
              <a:spcBef>
                <a:spcPts val="400"/>
              </a:spcBef>
            </a:pPr>
            <a:r>
              <a:rPr sz="1500">
                <a:solidFill>
                  <a:srgbClr val="000000"/>
                </a:solidFill>
              </a:rPr>
              <a:t>•  Parsing natural language descriptions of physical systems</a:t>
            </a:r>
          </a:p>
          <a:p>
            <a:pPr>
              <a:spcBef>
                <a:spcPts val="400"/>
              </a:spcBef>
            </a:pPr>
            <a:r>
              <a:rPr sz="1500">
                <a:solidFill>
                  <a:srgbClr val="000000"/>
                </a:solidFill>
              </a:rPr>
              <a:t>•  Identifying relevant objects, processes, phenomena</a:t>
            </a:r>
          </a:p>
          <a:p>
            <a:pPr>
              <a:spcBef>
                <a:spcPts val="400"/>
              </a:spcBef>
            </a:pPr>
            <a:r>
              <a:rPr sz="1500">
                <a:solidFill>
                  <a:srgbClr val="000000"/>
                </a:solidFill>
              </a:rPr>
              <a:t>•  Generating plausible component topologies as starting points</a:t>
            </a:r>
          </a:p>
          <a:p>
            <a:pPr>
              <a:spcBef>
                <a:spcPts val="400"/>
              </a:spcBef>
            </a:pPr>
            <a:r>
              <a:rPr sz="1500">
                <a:solidFill>
                  <a:srgbClr val="000000"/>
                </a:solidFill>
              </a:rPr>
              <a:t>•  Recognizing spatial relation vocabulary (DC, EC, PO...)</a:t>
            </a:r>
          </a:p>
          <a:p>
            <a:pPr>
              <a:spcBef>
                <a:spcPts val="400"/>
              </a:spcBef>
            </a:pPr>
            <a:r>
              <a:rPr sz="1500">
                <a:solidFill>
                  <a:srgbClr val="000000"/>
                </a:solidFill>
              </a:rPr>
              <a:t>•  Broad commonsense coverage across domains</a:t>
            </a:r>
          </a:p>
          <a:p>
            <a:pPr>
              <a:spcBef>
                <a:spcPts val="400"/>
              </a:spcBef>
            </a:pPr>
            <a:r>
              <a:rPr sz="1500">
                <a:solidFill>
                  <a:srgbClr val="000000"/>
                </a:solidFill>
              </a:rPr>
              <a:t>•  Reducing knowledge engineering bottleneck</a:t>
            </a:r>
          </a:p>
        </p:txBody>
      </p:sp>
      <p:sp>
        <p:nvSpPr>
          <p:cNvPr id="7" name="Rectangle 6"/>
          <p:cNvSpPr/>
          <p:nvPr/>
        </p:nvSpPr>
        <p:spPr>
          <a:xfrm>
            <a:off x="6263640" y="1188720"/>
            <a:ext cx="5577840" cy="384048"/>
          </a:xfrm>
          <a:prstGeom prst="rect">
            <a:avLst/>
          </a:prstGeom>
          <a:solidFill>
            <a:srgbClr val="2E5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25296"/>
            <a:ext cx="5394960" cy="347472"/>
          </a:xfrm>
          <a:prstGeom prst="rect">
            <a:avLst/>
          </a:prstGeom>
          <a:noFill/>
        </p:spPr>
        <p:txBody>
          <a:bodyPr wrap="square">
            <a:spAutoFit/>
          </a:bodyPr>
          <a:lstStyle/>
          <a:p>
            <a:pPr algn="l"/>
            <a:r>
              <a:rPr sz="1600" b="1" i="0">
                <a:solidFill>
                  <a:srgbClr val="FFFFFF"/>
                </a:solidFill>
              </a:rPr>
              <a:t>What symbolic QR provides</a:t>
            </a:r>
          </a:p>
        </p:txBody>
      </p:sp>
      <p:sp>
        <p:nvSpPr>
          <p:cNvPr id="9" name="TextBox 8"/>
          <p:cNvSpPr txBox="1"/>
          <p:nvPr/>
        </p:nvSpPr>
        <p:spPr>
          <a:xfrm>
            <a:off x="6355080" y="1664208"/>
            <a:ext cx="5394960" cy="4828032"/>
          </a:xfrm>
          <a:prstGeom prst="rect">
            <a:avLst/>
          </a:prstGeom>
          <a:noFill/>
        </p:spPr>
        <p:txBody>
          <a:bodyPr wrap="square">
            <a:spAutoFit/>
          </a:bodyPr>
          <a:lstStyle/>
          <a:p>
            <a:pPr>
              <a:spcBef>
                <a:spcPts val="400"/>
              </a:spcBef>
            </a:pPr>
            <a:r>
              <a:rPr sz="1500">
                <a:solidFill>
                  <a:srgbClr val="000000"/>
                </a:solidFill>
              </a:rPr>
              <a:t>•  Formal soundness: all real behaviors are captured</a:t>
            </a:r>
          </a:p>
          <a:p>
            <a:pPr>
              <a:spcBef>
                <a:spcPts val="400"/>
              </a:spcBef>
            </a:pPr>
            <a:r>
              <a:rPr sz="1500">
                <a:solidFill>
                  <a:srgbClr val="000000"/>
                </a:solidFill>
              </a:rPr>
              <a:t>•  Correct compositional spatial inference (RCC-8 tables)</a:t>
            </a:r>
          </a:p>
          <a:p>
            <a:pPr>
              <a:spcBef>
                <a:spcPts val="400"/>
              </a:spcBef>
            </a:pPr>
            <a:r>
              <a:rPr sz="1500">
                <a:solidFill>
                  <a:srgbClr val="000000"/>
                </a:solidFill>
              </a:rPr>
              <a:t>•  Causal explanation of every prediction</a:t>
            </a:r>
          </a:p>
          <a:p>
            <a:pPr>
              <a:spcBef>
                <a:spcPts val="400"/>
              </a:spcBef>
            </a:pPr>
            <a:r>
              <a:rPr sz="1500">
                <a:solidFill>
                  <a:srgbClr val="000000"/>
                </a:solidFill>
              </a:rPr>
              <a:t>•  Diagnosis of errors in LLM-generated structures</a:t>
            </a:r>
          </a:p>
          <a:p>
            <a:pPr>
              <a:spcBef>
                <a:spcPts val="400"/>
              </a:spcBef>
            </a:pPr>
            <a:r>
              <a:rPr sz="1500">
                <a:solidFill>
                  <a:srgbClr val="000000"/>
                </a:solidFill>
              </a:rPr>
              <a:t>•  Behavior-based repair of incorrect topologies</a:t>
            </a:r>
          </a:p>
          <a:p>
            <a:pPr>
              <a:spcBef>
                <a:spcPts val="400"/>
              </a:spcBef>
            </a:pPr>
            <a:r>
              <a:rPr sz="1500">
                <a:solidFill>
                  <a:srgbClr val="000000"/>
                </a:solidFill>
              </a:rPr>
              <a:t>•  Grounded, verifiable knowledge representations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LLM Performance on QR Tasks: 2023–2025</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Spatial reasoning (RCC-8 composition table) — Cohn et al.:</a:t>
            </a:r>
          </a:p>
          <a:p>
            <a:pPr lvl="1">
              <a:spcBef>
                <a:spcPts val="200"/>
              </a:spcBef>
            </a:pPr>
            <a:r>
              <a:rPr sz="1500" b="0">
                <a:solidFill>
                  <a:srgbClr val="000000"/>
                </a:solidFill>
              </a:rPr>
              <a:t>    –  ChatGPT-4 (2023): 71.94%  |  GPT-4 preferred compositions: 40.82%</a:t>
            </a:r>
          </a:p>
          <a:p>
            <a:pPr lvl="1">
              <a:spcBef>
                <a:spcPts val="200"/>
              </a:spcBef>
            </a:pPr>
            <a:r>
              <a:rPr sz="1500" b="0">
                <a:solidFill>
                  <a:srgbClr val="000000"/>
                </a:solidFill>
              </a:rPr>
              <a:t>    –  o1 (2025): ~92%  |  o3 approaches formal QR solver level</a:t>
            </a:r>
          </a:p>
          <a:p>
            <a:pPr lvl="1">
              <a:spcBef>
                <a:spcPts val="200"/>
              </a:spcBef>
            </a:pPr>
            <a:r>
              <a:rPr sz="1500" b="0">
                <a:solidFill>
                  <a:srgbClr val="000000"/>
                </a:solidFill>
              </a:rPr>
              <a:t>    –  Conceptual neighborhood (easiest): ~90% even for GPT-4 (recognition task)</a:t>
            </a:r>
          </a:p>
          <a:p>
            <a:pPr>
              <a:spcBef>
                <a:spcPts val="400"/>
              </a:spcBef>
            </a:pPr>
            <a:r>
              <a:rPr sz="1700" b="1">
                <a:solidFill>
                  <a:srgbClr val="1A375E"/>
                </a:solidFill>
              </a:rPr>
              <a:t>•  Physical system design — Maxwell et al. (QR 2023):</a:t>
            </a:r>
          </a:p>
          <a:p>
            <a:pPr lvl="1">
              <a:spcBef>
                <a:spcPts val="200"/>
              </a:spcBef>
            </a:pPr>
            <a:r>
              <a:rPr sz="1500" b="0">
                <a:solidFill>
                  <a:srgbClr val="000000"/>
                </a:solidFill>
              </a:rPr>
              <a:t>    –  Low-pass filter topology: mostly correct  |  Power train: mostly incorrect without repair</a:t>
            </a:r>
          </a:p>
          <a:p>
            <a:pPr lvl="1">
              <a:spcBef>
                <a:spcPts val="200"/>
              </a:spcBef>
            </a:pPr>
            <a:r>
              <a:rPr sz="1500" b="0">
                <a:solidFill>
                  <a:srgbClr val="000000"/>
                </a:solidFill>
              </a:rPr>
              <a:t>    –  With qualitative repair oracle: acceptable designs produced reliably</a:t>
            </a:r>
          </a:p>
          <a:p>
            <a:pPr>
              <a:spcBef>
                <a:spcPts val="400"/>
              </a:spcBef>
            </a:pPr>
            <a:r>
              <a:rPr sz="1700" b="1">
                <a:solidFill>
                  <a:srgbClr val="1A375E"/>
                </a:solidFill>
              </a:rPr>
              <a:t>•  Mechanical comprehension (gears, pulleys) — Ansah et al. (QR 2025):</a:t>
            </a:r>
          </a:p>
          <a:p>
            <a:pPr lvl="1">
              <a:spcBef>
                <a:spcPts val="200"/>
              </a:spcBef>
            </a:pPr>
            <a:r>
              <a:rPr sz="1500" b="0">
                <a:solidFill>
                  <a:srgbClr val="000000"/>
                </a:solidFill>
              </a:rPr>
              <a:t>    –  Most VLMs fail systematic compositional reasoning even on simple puzzles</a:t>
            </a:r>
          </a:p>
          <a:p>
            <a:pPr>
              <a:spcBef>
                <a:spcPts val="400"/>
              </a:spcBef>
            </a:pPr>
            <a:r>
              <a:rPr sz="1700" b="1">
                <a:solidFill>
                  <a:srgbClr val="1A375E"/>
                </a:solidFill>
              </a:rPr>
              <a:t>•  QP model construction — Suzuki &amp; Yoshioka (QR 2024/2025):</a:t>
            </a:r>
          </a:p>
          <a:p>
            <a:pPr lvl="1">
              <a:spcBef>
                <a:spcPts val="200"/>
              </a:spcBef>
            </a:pPr>
            <a:r>
              <a:rPr sz="1500" b="0">
                <a:solidFill>
                  <a:srgbClr val="000000"/>
                </a:solidFill>
              </a:rPr>
              <a:t>    –  LLM retrieval step: reliable for object/process identification</a:t>
            </a:r>
          </a:p>
          <a:p>
            <a:pPr lvl="1">
              <a:spcBef>
                <a:spcPts val="200"/>
              </a:spcBef>
            </a:pPr>
            <a:r>
              <a:rPr sz="1500" b="0">
                <a:solidFill>
                  <a:srgbClr val="000000"/>
                </a:solidFill>
              </a:rPr>
              <a:t>    –  QPT reasoning step: requires symbolic system — LLMs alone unreliable</a:t>
            </a:r>
          </a:p>
          <a:p>
            <a:pPr>
              <a:spcBef>
                <a:spcPts val="400"/>
              </a:spcBef>
            </a:pPr>
            <a:r>
              <a:rPr sz="1700" b="1">
                <a:solidFill>
                  <a:srgbClr val="1A375E"/>
                </a:solidFill>
              </a:rPr>
              <a:t>•  Pattern: recognition tasks (nearest-neighbor, vocabulary) → LLMs strong</a:t>
            </a:r>
          </a:p>
          <a:p>
            <a:pPr lvl="1">
              <a:spcBef>
                <a:spcPts val="200"/>
              </a:spcBef>
            </a:pPr>
            <a:r>
              <a:rPr sz="1500" b="0">
                <a:solidFill>
                  <a:srgbClr val="000000"/>
                </a:solidFill>
              </a:rPr>
              <a:t>    –  Compositional inference tasks (transitivity, chains) → LLMs weak; LRMs improving fast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The Grounding Critique: From Hayes to Forbus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1977 — Hayes: computers lack commonsense grounding in the physical world</a:t>
            </a:r>
          </a:p>
          <a:p>
            <a:pPr lvl="1">
              <a:spcBef>
                <a:spcPts val="200"/>
              </a:spcBef>
            </a:pPr>
            <a:r>
              <a:rPr sz="1500" b="0">
                <a:solidFill>
                  <a:srgbClr val="000000"/>
                </a:solidFill>
              </a:rPr>
              <a:t>    –  Solution proposed: formal axiomatization of naïve physics</a:t>
            </a:r>
          </a:p>
          <a:p>
            <a:pPr>
              <a:spcBef>
                <a:spcPts val="400"/>
              </a:spcBef>
            </a:pPr>
            <a:r>
              <a:rPr sz="1700" b="1">
                <a:solidFill>
                  <a:srgbClr val="1A375E"/>
                </a:solidFill>
              </a:rPr>
              <a:t>•  1984–2000 — QR community builds formal grounded representations</a:t>
            </a:r>
          </a:p>
          <a:p>
            <a:pPr lvl="1">
              <a:spcBef>
                <a:spcPts val="200"/>
              </a:spcBef>
            </a:pPr>
            <a:r>
              <a:rPr sz="1500" b="0">
                <a:solidFill>
                  <a:srgbClr val="000000"/>
                </a:solidFill>
              </a:rPr>
              <a:t>    –  QPT, QSIM, RCC-8: symbolic but well-specified formal semantics</a:t>
            </a:r>
          </a:p>
          <a:p>
            <a:pPr>
              <a:spcBef>
                <a:spcPts val="400"/>
              </a:spcBef>
            </a:pPr>
            <a:r>
              <a:rPr sz="1700" b="1">
                <a:solidFill>
                  <a:srgbClr val="1A375E"/>
                </a:solidFill>
              </a:rPr>
              <a:t>•  2023 — Forbus extends the critique to LLMs:</a:t>
            </a:r>
          </a:p>
          <a:p>
            <a:pPr lvl="1">
              <a:spcBef>
                <a:spcPts val="200"/>
              </a:spcBef>
            </a:pPr>
            <a:r>
              <a:rPr sz="1500" b="0">
                <a:solidFill>
                  <a:srgbClr val="000000"/>
                </a:solidFill>
              </a:rPr>
              <a:t>    –  'Exposure to language is not grounded in the everyday world'</a:t>
            </a:r>
          </a:p>
          <a:p>
            <a:pPr lvl="1">
              <a:spcBef>
                <a:spcPts val="200"/>
              </a:spcBef>
            </a:pPr>
            <a:r>
              <a:rPr sz="1500" b="0">
                <a:solidFill>
                  <a:srgbClr val="000000"/>
                </a:solidFill>
              </a:rPr>
              <a:t>    –  'Success criterion is statistical plausibility, not correct reasoning'</a:t>
            </a:r>
          </a:p>
          <a:p>
            <a:pPr>
              <a:spcBef>
                <a:spcPts val="400"/>
              </a:spcBef>
            </a:pPr>
            <a:r>
              <a:rPr sz="1700" b="1">
                <a:solidFill>
                  <a:srgbClr val="1A375E"/>
                </a:solidFill>
              </a:rPr>
              <a:t>•  2024 — Keser et al. provide empirical evidence:</a:t>
            </a:r>
          </a:p>
          <a:p>
            <a:pPr lvl="1">
              <a:spcBef>
                <a:spcPts val="200"/>
              </a:spcBef>
            </a:pPr>
            <a:r>
              <a:rPr sz="1500" b="0">
                <a:solidFill>
                  <a:srgbClr val="000000"/>
                </a:solidFill>
              </a:rPr>
              <a:t>    –  CLIP's embedding space partially but imperfectly aligns with formal ontologies</a:t>
            </a:r>
          </a:p>
          <a:p>
            <a:pPr lvl="1">
              <a:spcBef>
                <a:spcPts val="200"/>
              </a:spcBef>
            </a:pPr>
            <a:r>
              <a:rPr sz="1500" b="0">
                <a:solidFill>
                  <a:srgbClr val="000000"/>
                </a:solidFill>
              </a:rPr>
              <a:t>    –  Basic categories: good  |  Abstract properties: inconsistent  |  Part-whole: poor</a:t>
            </a:r>
          </a:p>
          <a:p>
            <a:pPr>
              <a:spcBef>
                <a:spcPts val="400"/>
              </a:spcBef>
            </a:pPr>
            <a:r>
              <a:rPr sz="1700" b="1">
                <a:solidFill>
                  <a:srgbClr val="1A375E"/>
                </a:solidFill>
              </a:rPr>
              <a:t>•  2025 — Liza extends to epistemic alignment:</a:t>
            </a:r>
          </a:p>
          <a:p>
            <a:pPr lvl="1">
              <a:spcBef>
                <a:spcPts val="200"/>
              </a:spcBef>
            </a:pPr>
            <a:r>
              <a:rPr sz="1500" b="0">
                <a:solidFill>
                  <a:srgbClr val="000000"/>
                </a:solidFill>
              </a:rPr>
              <a:t>    –  Not just 'does the agent behave correctly?' but 'does it know what it doesn't know?'</a:t>
            </a:r>
          </a:p>
          <a:p>
            <a:pPr>
              <a:spcBef>
                <a:spcPts val="400"/>
              </a:spcBef>
            </a:pPr>
            <a:r>
              <a:rPr sz="1700" b="1">
                <a:solidFill>
                  <a:srgbClr val="1A375E"/>
                </a:solidFill>
              </a:rPr>
              <a:t>•  The grounding problem is 48 years old — LLMs reshape but do not resolve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Open Research Directions at the QR/LLM Intersection</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Automated model generation at scale</a:t>
            </a:r>
          </a:p>
          <a:p>
            <a:pPr lvl="1">
              <a:spcBef>
                <a:spcPts val="200"/>
              </a:spcBef>
            </a:pPr>
            <a:r>
              <a:rPr sz="1500" b="0">
                <a:solidFill>
                  <a:srgbClr val="000000"/>
                </a:solidFill>
              </a:rPr>
              <a:t>    –  LLMs reduce the KB bottleneck — can we automate full QP model construction?</a:t>
            </a:r>
          </a:p>
          <a:p>
            <a:pPr lvl="1">
              <a:spcBef>
                <a:spcPts val="200"/>
              </a:spcBef>
            </a:pPr>
            <a:r>
              <a:rPr sz="1500" b="0">
                <a:solidFill>
                  <a:srgbClr val="000000"/>
                </a:solidFill>
              </a:rPr>
              <a:t>    –  Key challenge: LLM output must be verified against formal ontological constraints</a:t>
            </a:r>
          </a:p>
          <a:p>
            <a:pPr>
              <a:spcBef>
                <a:spcPts val="400"/>
              </a:spcBef>
            </a:pPr>
            <a:r>
              <a:rPr sz="1700" b="1">
                <a:solidFill>
                  <a:srgbClr val="1A375E"/>
                </a:solidFill>
              </a:rPr>
              <a:t>•  Grounding foundation models in QR representations</a:t>
            </a:r>
          </a:p>
          <a:p>
            <a:pPr lvl="1">
              <a:spcBef>
                <a:spcPts val="200"/>
              </a:spcBef>
            </a:pPr>
            <a:r>
              <a:rPr sz="1500" b="0">
                <a:solidFill>
                  <a:srgbClr val="000000"/>
                </a:solidFill>
              </a:rPr>
              <a:t>    –  Fine-tuning on QR-annotated corpora; embedding quantity-space structure</a:t>
            </a:r>
          </a:p>
          <a:p>
            <a:pPr lvl="1">
              <a:spcBef>
                <a:spcPts val="200"/>
              </a:spcBef>
            </a:pPr>
            <a:r>
              <a:rPr sz="1500" b="0">
                <a:solidFill>
                  <a:srgbClr val="000000"/>
                </a:solidFill>
              </a:rPr>
              <a:t>    –  Using QR ontologies to audit and repair LLM conceptual commitments</a:t>
            </a:r>
          </a:p>
          <a:p>
            <a:pPr>
              <a:spcBef>
                <a:spcPts val="400"/>
              </a:spcBef>
            </a:pPr>
            <a:r>
              <a:rPr sz="1700" b="1">
                <a:solidFill>
                  <a:srgbClr val="1A375E"/>
                </a:solidFill>
              </a:rPr>
              <a:t>•  LRMs vs. symbolic QR: convergence or complementarity?</a:t>
            </a:r>
          </a:p>
          <a:p>
            <a:pPr lvl="1">
              <a:spcBef>
                <a:spcPts val="200"/>
              </a:spcBef>
            </a:pPr>
            <a:r>
              <a:rPr sz="1500" b="0">
                <a:solidFill>
                  <a:srgbClr val="000000"/>
                </a:solidFill>
              </a:rPr>
              <a:t>    –  o1/o3 approach formal QR accuracy — do they still need symbolic backing?</a:t>
            </a:r>
          </a:p>
          <a:p>
            <a:pPr lvl="1">
              <a:spcBef>
                <a:spcPts val="200"/>
              </a:spcBef>
            </a:pPr>
            <a:r>
              <a:rPr sz="1500" b="0">
                <a:solidFill>
                  <a:srgbClr val="000000"/>
                </a:solidFill>
              </a:rPr>
              <a:t>    –  Answer likely domain-dependent: safety-critical systems require formal guarantees</a:t>
            </a:r>
          </a:p>
          <a:p>
            <a:pPr>
              <a:spcBef>
                <a:spcPts val="400"/>
              </a:spcBef>
            </a:pPr>
            <a:r>
              <a:rPr sz="1700" b="1">
                <a:solidFill>
                  <a:srgbClr val="1A375E"/>
                </a:solidFill>
              </a:rPr>
              <a:t>•  Epistemic alignment for autonomous QR agents</a:t>
            </a:r>
          </a:p>
          <a:p>
            <a:pPr lvl="1">
              <a:spcBef>
                <a:spcPts val="200"/>
              </a:spcBef>
            </a:pPr>
            <a:r>
              <a:rPr sz="1500" b="0">
                <a:solidFill>
                  <a:srgbClr val="000000"/>
                </a:solidFill>
              </a:rPr>
              <a:t>    –  Agents that correctly represent their own uncertainty over qualitative models</a:t>
            </a:r>
          </a:p>
          <a:p>
            <a:pPr>
              <a:spcBef>
                <a:spcPts val="400"/>
              </a:spcBef>
            </a:pPr>
            <a:r>
              <a:rPr sz="1700" b="1">
                <a:solidFill>
                  <a:srgbClr val="1A375E"/>
                </a:solidFill>
              </a:rPr>
              <a:t>•  Multi-scale and multi-domain QR with LLM assistance</a:t>
            </a:r>
          </a:p>
          <a:p>
            <a:pPr lvl="1">
              <a:spcBef>
                <a:spcPts val="200"/>
              </a:spcBef>
            </a:pPr>
            <a:r>
              <a:rPr sz="1500" b="0">
                <a:solidFill>
                  <a:srgbClr val="000000"/>
                </a:solidFill>
              </a:rPr>
              <a:t>    –  Ecological systems, social dynamics, autonomous vehicles — all benefit from QR breadth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Timeline: QR and LLMs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1977 — Hayes' Naïve Physics Manifesto</a:t>
            </a:r>
          </a:p>
          <a:p>
            <a:pPr>
              <a:spcBef>
                <a:spcPts val="400"/>
              </a:spcBef>
            </a:pPr>
            <a:r>
              <a:rPr sz="1700" b="1">
                <a:solidFill>
                  <a:srgbClr val="1A375E"/>
                </a:solidFill>
              </a:rPr>
              <a:t>•  1984 — Foundational QR papers (de Kleer, Forbus, Kuipers) in AI journal</a:t>
            </a:r>
          </a:p>
          <a:p>
            <a:pPr>
              <a:spcBef>
                <a:spcPts val="400"/>
              </a:spcBef>
            </a:pPr>
            <a:r>
              <a:rPr sz="1700" b="1">
                <a:solidFill>
                  <a:srgbClr val="1A375E"/>
                </a:solidFill>
              </a:rPr>
              <a:t>•  1986 — QSIM algorithm; 1987 — First QR Workshop</a:t>
            </a:r>
          </a:p>
          <a:p>
            <a:pPr>
              <a:spcBef>
                <a:spcPts val="400"/>
              </a:spcBef>
            </a:pPr>
            <a:r>
              <a:rPr sz="1700" b="1">
                <a:solidFill>
                  <a:srgbClr val="1A375E"/>
                </a:solidFill>
              </a:rPr>
              <a:t>•  1991 — Compositional modeling (Falkenhainer &amp; Forbus)</a:t>
            </a:r>
          </a:p>
          <a:p>
            <a:pPr>
              <a:spcBef>
                <a:spcPts val="400"/>
              </a:spcBef>
            </a:pPr>
            <a:r>
              <a:rPr sz="1700" b="1">
                <a:solidFill>
                  <a:srgbClr val="1A375E"/>
                </a:solidFill>
              </a:rPr>
              <a:t>•  ~1990–1995 — Commercial applications: photocopier, automotive FMEA</a:t>
            </a:r>
          </a:p>
          <a:p>
            <a:pPr>
              <a:spcBef>
                <a:spcPts val="400"/>
              </a:spcBef>
            </a:pPr>
            <a:r>
              <a:rPr sz="1700" b="1">
                <a:solidFill>
                  <a:srgbClr val="1A375E"/>
                </a:solidFill>
              </a:rPr>
              <a:t>•  1996 — NASA Deep Space One: first autonomous AI-controlled spacecraft</a:t>
            </a:r>
          </a:p>
          <a:p>
            <a:pPr>
              <a:spcBef>
                <a:spcPts val="400"/>
              </a:spcBef>
            </a:pPr>
            <a:r>
              <a:rPr sz="1700" b="1">
                <a:solidFill>
                  <a:srgbClr val="1A375E"/>
                </a:solidFill>
              </a:rPr>
              <a:t>•  2006 — QR community articulates 20-year grand challenge visions</a:t>
            </a:r>
          </a:p>
          <a:p>
            <a:pPr>
              <a:spcBef>
                <a:spcPts val="400"/>
              </a:spcBef>
            </a:pPr>
            <a:r>
              <a:rPr sz="1700" b="1">
                <a:solidFill>
                  <a:srgbClr val="1A375E"/>
                </a:solidFill>
              </a:rPr>
              <a:t>•  2010s — DynaLearn deployed in European schools; CogSketch in cognitive science</a:t>
            </a:r>
          </a:p>
          <a:p>
            <a:pPr>
              <a:spcBef>
                <a:spcPts val="400"/>
              </a:spcBef>
            </a:pPr>
            <a:r>
              <a:rPr sz="1700" b="1">
                <a:solidFill>
                  <a:srgbClr val="1A375E"/>
                </a:solidFill>
              </a:rPr>
              <a:t>•  2023 — First systematic evaluations of ChatGPT-4 on QR tasks (QR2023 Workshop)</a:t>
            </a:r>
          </a:p>
          <a:p>
            <a:pPr>
              <a:spcBef>
                <a:spcPts val="400"/>
              </a:spcBef>
            </a:pPr>
            <a:r>
              <a:rPr sz="1700" b="1">
                <a:solidFill>
                  <a:srgbClr val="1A375E"/>
                </a:solidFill>
              </a:rPr>
              <a:t>•  2024 — LLM-QPT hybrid pipeline demonstrated (Suzuki &amp; Yoshioka)</a:t>
            </a:r>
          </a:p>
          <a:p>
            <a:pPr>
              <a:spcBef>
                <a:spcPts val="400"/>
              </a:spcBef>
            </a:pPr>
            <a:r>
              <a:rPr sz="1700" b="1">
                <a:solidFill>
                  <a:srgbClr val="1A375E"/>
                </a:solidFill>
              </a:rPr>
              <a:t>•  2025 — 28 LLMs benchmarked; o1 achieves ~92% on spatial QR; epistemic alignment emerges</a:t>
            </a:r>
          </a:p>
          <a:p>
            <a:pPr>
              <a:spcBef>
                <a:spcPts val="400"/>
              </a:spcBef>
            </a:pPr>
            <a:r>
              <a:rPr sz="1700" b="1">
                <a:solidFill>
                  <a:srgbClr val="1A375E"/>
                </a:solidFill>
              </a:rPr>
              <a:t>•  Future — LRMs approach formal QR accuracy; hybrid architectures mature; grounding unresolved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Summary</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Qualitative Reasoning is a 60+ year AI subfield with deep mathematical roots</a:t>
            </a:r>
          </a:p>
          <a:p>
            <a:pPr lvl="1">
              <a:spcBef>
                <a:spcPts val="200"/>
              </a:spcBef>
            </a:pPr>
            <a:r>
              <a:rPr sz="1500" b="0">
                <a:solidFill>
                  <a:srgbClr val="000000"/>
                </a:solidFill>
              </a:rPr>
              <a:t>    –  Sign algebra (economics, 1962) → QPT + QSIM + Confluences (1984) → compositional modeling (1991)</a:t>
            </a:r>
          </a:p>
          <a:p>
            <a:pPr lvl="1">
              <a:spcBef>
                <a:spcPts val="200"/>
              </a:spcBef>
            </a:pPr>
            <a:r>
              <a:rPr sz="1500" b="0">
                <a:solidFill>
                  <a:srgbClr val="000000"/>
                </a:solidFill>
              </a:rPr>
              <a:t>    –  RCC-8 spatial reasoning, DynaLearn education tools, NASA spacecraft diagnosis</a:t>
            </a:r>
          </a:p>
          <a:p>
            <a:pPr>
              <a:spcBef>
                <a:spcPts val="400"/>
              </a:spcBef>
            </a:pPr>
            <a:r>
              <a:rPr sz="1700" b="1">
                <a:solidFill>
                  <a:srgbClr val="1A375E"/>
                </a:solidFill>
              </a:rPr>
              <a:t>•  QR's core value: sound, explainable, causal reasoning under incomplete information</a:t>
            </a:r>
          </a:p>
          <a:p>
            <a:pPr lvl="1">
              <a:spcBef>
                <a:spcPts val="200"/>
              </a:spcBef>
            </a:pPr>
            <a:r>
              <a:rPr sz="1500" b="0">
                <a:solidFill>
                  <a:srgbClr val="000000"/>
                </a:solidFill>
              </a:rPr>
              <a:t>    –  No training data required — knowledge encoded as model fragments</a:t>
            </a:r>
          </a:p>
          <a:p>
            <a:pPr lvl="1">
              <a:spcBef>
                <a:spcPts val="200"/>
              </a:spcBef>
            </a:pPr>
            <a:r>
              <a:rPr sz="1500" b="0">
                <a:solidFill>
                  <a:srgbClr val="000000"/>
                </a:solidFill>
              </a:rPr>
              <a:t>    –  Every conclusion traceable to specific model structure</a:t>
            </a:r>
          </a:p>
          <a:p>
            <a:pPr>
              <a:spcBef>
                <a:spcPts val="400"/>
              </a:spcBef>
            </a:pPr>
            <a:r>
              <a:rPr sz="1700" b="1">
                <a:solidFill>
                  <a:srgbClr val="1A375E"/>
                </a:solidFill>
              </a:rPr>
              <a:t>•  LLMs are reshaping how QR is practiced — but not replacing it</a:t>
            </a:r>
          </a:p>
          <a:p>
            <a:pPr lvl="1">
              <a:spcBef>
                <a:spcPts val="200"/>
              </a:spcBef>
            </a:pPr>
            <a:r>
              <a:rPr sz="1500" b="0">
                <a:solidFill>
                  <a:srgbClr val="000000"/>
                </a:solidFill>
              </a:rPr>
              <a:t>    –  LLMs: natural language → structured objects/processes (breadth)</a:t>
            </a:r>
          </a:p>
          <a:p>
            <a:pPr lvl="1">
              <a:spcBef>
                <a:spcPts val="200"/>
              </a:spcBef>
            </a:pPr>
            <a:r>
              <a:rPr sz="1500" b="0">
                <a:solidFill>
                  <a:srgbClr val="000000"/>
                </a:solidFill>
              </a:rPr>
              <a:t>    –  Symbolic QR: formal inference, soundness guarantees, causal explanation (precision)</a:t>
            </a:r>
          </a:p>
          <a:p>
            <a:pPr lvl="1">
              <a:spcBef>
                <a:spcPts val="200"/>
              </a:spcBef>
            </a:pPr>
            <a:r>
              <a:rPr sz="1500" b="0">
                <a:solidFill>
                  <a:srgbClr val="000000"/>
                </a:solidFill>
              </a:rPr>
              <a:t>    –  LRMs (o1, o3) rapidly close benchmark gap — formal guarantees remain symbolic</a:t>
            </a:r>
          </a:p>
          <a:p>
            <a:pPr>
              <a:spcBef>
                <a:spcPts val="400"/>
              </a:spcBef>
            </a:pPr>
            <a:r>
              <a:rPr sz="1700" b="1">
                <a:solidFill>
                  <a:srgbClr val="1A375E"/>
                </a:solidFill>
              </a:rPr>
              <a:t>•  The grounding problem Hayes identified in 1977 remains the central challenge</a:t>
            </a:r>
          </a:p>
          <a:p>
            <a:pPr lvl="1">
              <a:spcBef>
                <a:spcPts val="200"/>
              </a:spcBef>
            </a:pPr>
            <a:r>
              <a:rPr sz="1500" b="0">
                <a:solidFill>
                  <a:srgbClr val="000000"/>
                </a:solidFill>
              </a:rPr>
              <a:t>    –  LLMs are trained on language, not the physical world — same critique, new context</a:t>
            </a:r>
          </a:p>
          <a:p>
            <a:pPr>
              <a:spcBef>
                <a:spcPts val="400"/>
              </a:spcBef>
            </a:pPr>
            <a:r>
              <a:rPr sz="1700" b="1">
                <a:solidFill>
                  <a:srgbClr val="1A375E"/>
                </a:solidFill>
              </a:rPr>
              <a:t>•  Hybrid neuro-symbolic architectures are the community's current consensus path forward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5E9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8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280160"/>
          </a:xfrm>
          <a:prstGeom prst="rect">
            <a:avLst/>
          </a:prstGeom>
          <a:noFill/>
        </p:spPr>
        <p:txBody>
          <a:bodyPr wrap="square">
            <a:spAutoFit/>
          </a:bodyPr>
          <a:lstStyle/>
          <a:p>
            <a:pPr algn="l"/>
            <a:r>
              <a:rPr sz="3600" b="1" i="0">
                <a:solidFill>
                  <a:srgbClr val="FFFFFF"/>
                </a:solidFill>
              </a:rPr>
              <a:t>References</a:t>
            </a:r>
          </a:p>
        </p:txBody>
      </p:sp>
      <p:sp>
        <p:nvSpPr>
          <p:cNvPr id="4" name="TextBox 3"/>
          <p:cNvSpPr txBox="1"/>
          <p:nvPr/>
        </p:nvSpPr>
        <p:spPr>
          <a:xfrm>
            <a:off x="731520" y="3749039"/>
            <a:ext cx="10698480" cy="914400"/>
          </a:xfrm>
          <a:prstGeom prst="rect">
            <a:avLst/>
          </a:prstGeom>
          <a:noFill/>
        </p:spPr>
        <p:txBody>
          <a:bodyPr wrap="square">
            <a:spAutoFit/>
          </a:bodyPr>
          <a:lstStyle/>
          <a:p>
            <a:pPr algn="l"/>
            <a:r>
              <a:rPr sz="2000" b="0" i="0">
                <a:solidFill>
                  <a:srgbClr val="D6E4F7"/>
                </a:solidFill>
              </a:rPr>
              <a:t>Primary sources used in this presentation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References — History and Foundations</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Lancaster, K. (1962). The solution of qualitative comparative static problems. Quarterly Journal of Economics.</a:t>
            </a:r>
          </a:p>
          <a:p>
            <a:pPr>
              <a:spcBef>
                <a:spcPts val="400"/>
              </a:spcBef>
            </a:pPr>
            <a:r>
              <a:rPr sz="1700" b="1">
                <a:solidFill>
                  <a:srgbClr val="1A375E"/>
                </a:solidFill>
              </a:rPr>
              <a:t>•  Hayes, P. (1977). In defence of logic. IJCAI-1977. Also: The naïve physics manifesto (1979, 1985).</a:t>
            </a:r>
          </a:p>
          <a:p>
            <a:pPr>
              <a:spcBef>
                <a:spcPts val="400"/>
              </a:spcBef>
            </a:pPr>
            <a:r>
              <a:rPr sz="1700" b="1">
                <a:solidFill>
                  <a:srgbClr val="1A375E"/>
                </a:solidFill>
              </a:rPr>
              <a:t>•  de Kleer, J. &amp; Brown, J. (1984). A qualitative physics based on confluences. Artificial Intelligence, 24, 7–83.</a:t>
            </a:r>
          </a:p>
          <a:p>
            <a:pPr>
              <a:spcBef>
                <a:spcPts val="400"/>
              </a:spcBef>
            </a:pPr>
            <a:r>
              <a:rPr sz="1700" b="1">
                <a:solidFill>
                  <a:srgbClr val="1A375E"/>
                </a:solidFill>
              </a:rPr>
              <a:t>•  Forbus, K. (1984). Qualitative process theory. Artificial Intelligence, 24, 85–168.</a:t>
            </a:r>
          </a:p>
          <a:p>
            <a:pPr>
              <a:spcBef>
                <a:spcPts val="400"/>
              </a:spcBef>
            </a:pPr>
            <a:r>
              <a:rPr sz="1700" b="1">
                <a:solidFill>
                  <a:srgbClr val="1A375E"/>
                </a:solidFill>
              </a:rPr>
              <a:t>•  Kuipers, B. (1986). Qualitative simulation. Artificial Intelligence, 29, 289–338.</a:t>
            </a:r>
          </a:p>
          <a:p>
            <a:pPr>
              <a:spcBef>
                <a:spcPts val="400"/>
              </a:spcBef>
            </a:pPr>
            <a:r>
              <a:rPr sz="1700" b="1">
                <a:solidFill>
                  <a:srgbClr val="1A375E"/>
                </a:solidFill>
              </a:rPr>
              <a:t>•  Falkenhainer, B. &amp; Forbus, K. (1991). Compositional modeling: finding the right model for the job. Artificial Intelligence, 51, 95–143.</a:t>
            </a:r>
          </a:p>
          <a:p>
            <a:pPr>
              <a:spcBef>
                <a:spcPts val="400"/>
              </a:spcBef>
            </a:pPr>
            <a:r>
              <a:rPr sz="1700" b="1">
                <a:solidFill>
                  <a:srgbClr val="1A375E"/>
                </a:solidFill>
              </a:rPr>
              <a:t>•  Mavrovouniotis, M. &amp; Stephanopoulos, G. (1988). Formal order-of-magnitude reasoning in process engineering. Computers &amp; Chemical Engineering, 12, 867–880.</a:t>
            </a:r>
          </a:p>
          <a:p>
            <a:pPr>
              <a:spcBef>
                <a:spcPts val="400"/>
              </a:spcBef>
            </a:pPr>
            <a:r>
              <a:rPr sz="1700" b="1">
                <a:solidFill>
                  <a:srgbClr val="1A375E"/>
                </a:solidFill>
              </a:rPr>
              <a:t>•  Travé-Massuyes, L. (1992). Qualitative reasoning: history, status, perspectives. Knowledge Engineering Review, 7(4).</a:t>
            </a:r>
          </a:p>
          <a:p>
            <a:pPr>
              <a:spcBef>
                <a:spcPts val="400"/>
              </a:spcBef>
            </a:pPr>
            <a:r>
              <a:rPr sz="1700" b="1">
                <a:solidFill>
                  <a:srgbClr val="1A375E"/>
                </a:solidFill>
              </a:rPr>
              <a:t>•  Price, C. et al. (MONET network). (2006). Qualitative futures. Knowledge Engineering Review, 21(4), 317–357.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References — Applications and Software</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Williams, B. &amp; Nayak, P. (1996). A model-based approach to reactive self-configuring systems. AAAI-1996. [NASA DS-1]</a:t>
            </a:r>
          </a:p>
          <a:p>
            <a:pPr>
              <a:spcBef>
                <a:spcPts val="400"/>
              </a:spcBef>
            </a:pPr>
            <a:r>
              <a:rPr sz="1700" b="1">
                <a:solidFill>
                  <a:srgbClr val="1A375E"/>
                </a:solidFill>
              </a:rPr>
              <a:t>•  Hamscher, W. (1991). Modeling digital circuits for troubleshooting. Artificial Intelligence, 51, 223–271. [Xerox FMEA]</a:t>
            </a:r>
          </a:p>
          <a:p>
            <a:pPr>
              <a:spcBef>
                <a:spcPts val="400"/>
              </a:spcBef>
            </a:pPr>
            <a:r>
              <a:rPr sz="1700" b="1">
                <a:solidFill>
                  <a:srgbClr val="1A375E"/>
                </a:solidFill>
              </a:rPr>
              <a:t>•  Bredeweg, B. et al. (2009). DynaLearn — an intelligent learning environment for learning conceptual knowledge. AI Magazine.</a:t>
            </a:r>
          </a:p>
          <a:p>
            <a:pPr>
              <a:spcBef>
                <a:spcPts val="400"/>
              </a:spcBef>
            </a:pPr>
            <a:r>
              <a:rPr sz="1700" b="1">
                <a:solidFill>
                  <a:srgbClr val="1A375E"/>
                </a:solidFill>
              </a:rPr>
              <a:t>•  Forbus, K. et al. (2011). CogSketch: Sketch understanding for cognitive science research and for education. Topics in Cognitive Science.</a:t>
            </a:r>
          </a:p>
          <a:p>
            <a:pPr>
              <a:spcBef>
                <a:spcPts val="400"/>
              </a:spcBef>
            </a:pPr>
            <a:r>
              <a:rPr sz="1700" b="1">
                <a:solidFill>
                  <a:srgbClr val="1A375E"/>
                </a:solidFill>
              </a:rPr>
              <a:t>•  Forbus, K. (2011). Qualitative reasoning. Chapter 35 in Computing Handbook, 3rd ed. CRC Press.</a:t>
            </a:r>
          </a:p>
          <a:p>
            <a:pPr>
              <a:spcBef>
                <a:spcPts val="400"/>
              </a:spcBef>
            </a:pPr>
            <a:r>
              <a:rPr sz="1700" b="1">
                <a:solidFill>
                  <a:srgbClr val="1A375E"/>
                </a:solidFill>
              </a:rPr>
              <a:t>•  Kuipers, B. (1994). Qualitative Reasoning: Modeling and Simulation with Incomplete Knowledge. MIT Press.</a:t>
            </a:r>
          </a:p>
          <a:p>
            <a:pPr>
              <a:spcBef>
                <a:spcPts val="400"/>
              </a:spcBef>
            </a:pPr>
            <a:r>
              <a:rPr sz="1700" b="1">
                <a:solidFill>
                  <a:srgbClr val="1A375E"/>
                </a:solidFill>
              </a:rPr>
              <a:t>•  Forbus, K. (2019). Qualitative Representations: How People Reason and Learn about the Continuous World. MIT Press.</a:t>
            </a:r>
          </a:p>
          <a:p>
            <a:pPr>
              <a:spcBef>
                <a:spcPts val="400"/>
              </a:spcBef>
            </a:pPr>
            <a:r>
              <a:rPr sz="1700" b="1">
                <a:solidFill>
                  <a:srgbClr val="1A375E"/>
                </a:solidFill>
              </a:rPr>
              <a:t>•  Kragten, M. et al. (2024). GarpN: Bridging qualitative and quantitative modelling. QR 2024 Workshop.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68680"/>
          </a:xfrm>
          <a:prstGeom prst="rect">
            <a:avLst/>
          </a:prstGeom>
          <a:noFill/>
        </p:spPr>
        <p:txBody>
          <a:bodyPr wrap="square">
            <a:spAutoFit/>
          </a:bodyPr>
          <a:lstStyle/>
          <a:p>
            <a:pPr algn="l"/>
            <a:r>
              <a:rPr sz="2600" b="1" i="0">
                <a:solidFill>
                  <a:srgbClr val="FFFFFF"/>
                </a:solidFill>
              </a:rPr>
              <a:t>References — LLMs in QR (2023–2025)</a:t>
            </a:r>
          </a:p>
        </p:txBody>
      </p:sp>
      <p:sp>
        <p:nvSpPr>
          <p:cNvPr id="4" name="TextBox 3"/>
          <p:cNvSpPr txBox="1"/>
          <p:nvPr/>
        </p:nvSpPr>
        <p:spPr>
          <a:xfrm>
            <a:off x="365760" y="1143000"/>
            <a:ext cx="11430000" cy="5394960"/>
          </a:xfrm>
          <a:prstGeom prst="rect">
            <a:avLst/>
          </a:prstGeom>
          <a:noFill/>
        </p:spPr>
        <p:txBody>
          <a:bodyPr wrap="square">
            <a:spAutoFit/>
          </a:bodyPr>
          <a:lstStyle/>
          <a:p>
            <a:pPr>
              <a:spcBef>
                <a:spcPts val="400"/>
              </a:spcBef>
            </a:pPr>
            <a:r>
              <a:rPr sz="1700" b="1">
                <a:solidFill>
                  <a:srgbClr val="1A375E"/>
                </a:solidFill>
              </a:rPr>
              <a:t>•  Cohn, A.G. (2023). Evaluating ChatGPT on qualitative spatial reasoning. QR 2023 Workshop.</a:t>
            </a:r>
          </a:p>
          <a:p>
            <a:pPr>
              <a:spcBef>
                <a:spcPts val="400"/>
              </a:spcBef>
            </a:pPr>
            <a:r>
              <a:rPr sz="1700" b="1">
                <a:solidFill>
                  <a:srgbClr val="1A375E"/>
                </a:solidFill>
              </a:rPr>
              <a:t>•  Maxwell, J. et al. (2023). Preliminary experiments using LLMs for design. QR 2023 Workshop.</a:t>
            </a:r>
          </a:p>
          <a:p>
            <a:pPr>
              <a:spcBef>
                <a:spcPts val="400"/>
              </a:spcBef>
            </a:pPr>
            <a:r>
              <a:rPr sz="1700" b="1">
                <a:solidFill>
                  <a:srgbClr val="1A375E"/>
                </a:solidFill>
              </a:rPr>
              <a:t>•  Forbus, K. (2023). Building domain theories from language-grounded ontologies. QR 2023 Workshop.</a:t>
            </a:r>
          </a:p>
          <a:p>
            <a:pPr>
              <a:spcBef>
                <a:spcPts val="400"/>
              </a:spcBef>
            </a:pPr>
            <a:r>
              <a:rPr sz="1700" b="1">
                <a:solidFill>
                  <a:srgbClr val="1A375E"/>
                </a:solidFill>
              </a:rPr>
              <a:t>•  Suzuki, H. &amp; Yoshioka, F. (2024). Automating qualitative model construction with LLMs and physical laws. QR 2024 Workshop.</a:t>
            </a:r>
          </a:p>
          <a:p>
            <a:pPr>
              <a:spcBef>
                <a:spcPts val="400"/>
              </a:spcBef>
            </a:pPr>
            <a:r>
              <a:rPr sz="1700" b="1">
                <a:solidFill>
                  <a:srgbClr val="1A375E"/>
                </a:solidFill>
              </a:rPr>
              <a:t>•  Keser, T., Wolter, D. &amp; Bhatt, M. (2024). Extracting ontological commitment from foundation models. QR 2024 Workshop.</a:t>
            </a:r>
          </a:p>
          <a:p>
            <a:pPr>
              <a:spcBef>
                <a:spcPts val="400"/>
              </a:spcBef>
            </a:pPr>
            <a:r>
              <a:rPr sz="1700" b="1">
                <a:solidFill>
                  <a:srgbClr val="1A375E"/>
                </a:solidFill>
              </a:rPr>
              <a:t>•  Forbus, K. (2025). NL input with qualitative process model libraries. QR 2025 Workshop.</a:t>
            </a:r>
          </a:p>
          <a:p>
            <a:pPr>
              <a:spcBef>
                <a:spcPts val="400"/>
              </a:spcBef>
            </a:pPr>
            <a:r>
              <a:rPr sz="1700" b="1">
                <a:solidFill>
                  <a:srgbClr val="1A375E"/>
                </a:solidFill>
              </a:rPr>
              <a:t>•  Cohn, A.G. &amp; Blackwell, A. (2025). Benchmarking 28 LLMs on qualitative spatial reasoning. QR 2025 Workshop.</a:t>
            </a:r>
          </a:p>
          <a:p>
            <a:pPr>
              <a:spcBef>
                <a:spcPts val="400"/>
              </a:spcBef>
            </a:pPr>
            <a:r>
              <a:rPr sz="1700" b="1">
                <a:solidFill>
                  <a:srgbClr val="1A375E"/>
                </a:solidFill>
              </a:rPr>
              <a:t>•  Ansah, J. et al. (2025). VLMs on mechanical comprehension tasks. QR 2025 Workshop.</a:t>
            </a:r>
          </a:p>
          <a:p>
            <a:pPr>
              <a:spcBef>
                <a:spcPts val="400"/>
              </a:spcBef>
            </a:pPr>
            <a:r>
              <a:rPr sz="1700" b="1">
                <a:solidFill>
                  <a:srgbClr val="1A375E"/>
                </a:solidFill>
              </a:rPr>
              <a:t>•  Peng, X. &amp; Lai, T. (2025). Multi-agent qualitative supervision with LLMs. QR 2025 Workshop.</a:t>
            </a:r>
          </a:p>
          <a:p>
            <a:pPr>
              <a:spcBef>
                <a:spcPts val="400"/>
              </a:spcBef>
            </a:pPr>
            <a:r>
              <a:rPr sz="1700" b="1">
                <a:solidFill>
                  <a:srgbClr val="1A375E"/>
                </a:solidFill>
              </a:rPr>
              <a:t>•  Liza, F.F. (2025). Epistemic alignment for qualitative reasoning agents. QR 2025 Workshop.</a:t>
            </a:r>
          </a:p>
          <a:p>
            <a:pPr>
              <a:spcBef>
                <a:spcPts val="400"/>
              </a:spcBef>
            </a:pPr>
            <a:r>
              <a:rPr sz="1700" b="1">
                <a:solidFill>
                  <a:srgbClr val="1A375E"/>
                </a:solidFill>
              </a:rPr>
              <a:t>•  Suzuki, H. et al. (2025). Extended LLM-QPT pipeline for physics problems. QR 2025 Workshop.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